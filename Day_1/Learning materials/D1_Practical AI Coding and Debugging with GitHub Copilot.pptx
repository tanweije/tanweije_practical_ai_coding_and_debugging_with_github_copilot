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8"/>
  </p:notesMasterIdLst>
  <p:sldIdLst>
    <p:sldId id="256" r:id="rId2"/>
    <p:sldId id="257" r:id="rId3"/>
    <p:sldId id="258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59" r:id="rId28"/>
    <p:sldId id="338" r:id="rId29"/>
    <p:sldId id="339" r:id="rId30"/>
    <p:sldId id="340" r:id="rId31"/>
    <p:sldId id="341" r:id="rId32"/>
    <p:sldId id="342" r:id="rId33"/>
    <p:sldId id="343" r:id="rId34"/>
    <p:sldId id="345" r:id="rId35"/>
    <p:sldId id="282" r:id="rId36"/>
    <p:sldId id="283" r:id="rId37"/>
    <p:sldId id="284" r:id="rId38"/>
    <p:sldId id="285" r:id="rId39"/>
    <p:sldId id="304" r:id="rId40"/>
    <p:sldId id="305" r:id="rId41"/>
    <p:sldId id="306" r:id="rId42"/>
    <p:sldId id="307" r:id="rId43"/>
    <p:sldId id="308" r:id="rId44"/>
    <p:sldId id="309" r:id="rId45"/>
    <p:sldId id="310" r:id="rId46"/>
    <p:sldId id="311" r:id="rId47"/>
    <p:sldId id="312" r:id="rId48"/>
    <p:sldId id="313" r:id="rId49"/>
    <p:sldId id="314" r:id="rId50"/>
    <p:sldId id="315" r:id="rId51"/>
    <p:sldId id="316" r:id="rId52"/>
    <p:sldId id="317" r:id="rId53"/>
    <p:sldId id="319" r:id="rId54"/>
    <p:sldId id="320" r:id="rId55"/>
    <p:sldId id="321" r:id="rId56"/>
    <p:sldId id="322" r:id="rId57"/>
    <p:sldId id="323" r:id="rId58"/>
    <p:sldId id="324" r:id="rId59"/>
    <p:sldId id="325" r:id="rId60"/>
    <p:sldId id="326" r:id="rId61"/>
    <p:sldId id="327" r:id="rId62"/>
    <p:sldId id="328" r:id="rId63"/>
    <p:sldId id="329" r:id="rId64"/>
    <p:sldId id="330" r:id="rId65"/>
    <p:sldId id="331" r:id="rId66"/>
    <p:sldId id="332" r:id="rId67"/>
    <p:sldId id="333" r:id="rId68"/>
    <p:sldId id="334" r:id="rId69"/>
    <p:sldId id="337" r:id="rId70"/>
    <p:sldId id="295" r:id="rId71"/>
    <p:sldId id="296" r:id="rId72"/>
    <p:sldId id="297" r:id="rId73"/>
    <p:sldId id="298" r:id="rId74"/>
    <p:sldId id="299" r:id="rId75"/>
    <p:sldId id="300" r:id="rId76"/>
    <p:sldId id="301" r:id="rId77"/>
    <p:sldId id="302" r:id="rId78"/>
    <p:sldId id="303" r:id="rId79"/>
    <p:sldId id="260" r:id="rId80"/>
    <p:sldId id="261" r:id="rId81"/>
    <p:sldId id="262" r:id="rId82"/>
    <p:sldId id="263" r:id="rId83"/>
    <p:sldId id="264" r:id="rId84"/>
    <p:sldId id="265" r:id="rId85"/>
    <p:sldId id="266" r:id="rId86"/>
    <p:sldId id="267" r:id="rId87"/>
  </p:sldIdLst>
  <p:sldSz cx="12192000" cy="6858000"/>
  <p:notesSz cx="6858000" cy="9144000"/>
  <p:embeddedFontLst>
    <p:embeddedFont>
      <p:font typeface="Fira Code" panose="020B0809050000020004" pitchFamily="49" charset="0"/>
      <p:regular r:id="rId89"/>
      <p:bold r:id="rId90"/>
    </p:embeddedFont>
    <p:embeddedFont>
      <p:font typeface="Fira Code SemiBold" panose="020B0604020202020204" charset="0"/>
      <p:regular r:id="rId91"/>
      <p:bold r:id="rId92"/>
    </p:embeddedFont>
    <p:embeddedFont>
      <p:font typeface="Inter" panose="020B0604020202020204" charset="0"/>
      <p:regular r:id="rId93"/>
      <p:bold r:id="rId94"/>
      <p:italic r:id="rId95"/>
      <p:boldItalic r:id="rId96"/>
    </p:embeddedFont>
    <p:embeddedFont>
      <p:font typeface="Inter SemiBold" panose="020B0604020202020204" charset="0"/>
      <p:regular r:id="rId97"/>
      <p:bold r:id="rId98"/>
      <p:italic r:id="rId99"/>
      <p:boldItalic r:id="rId100"/>
    </p:embeddedFont>
    <p:embeddedFont>
      <p:font typeface="JetBrains Mono" panose="020B0604020202020204" charset="0"/>
      <p:regular r:id="rId101"/>
      <p:bold r:id="rId102"/>
      <p:italic r:id="rId103"/>
      <p:boldItalic r:id="rId104"/>
    </p:embeddedFont>
    <p:embeddedFont>
      <p:font typeface="Lato" panose="020F0502020204030203" pitchFamily="34" charset="0"/>
      <p:regular r:id="rId105"/>
      <p:bold r:id="rId106"/>
      <p:italic r:id="rId107"/>
    </p:embeddedFont>
    <p:embeddedFont>
      <p:font typeface="Lato Light" panose="020F0502020204030203" pitchFamily="34" charset="0"/>
      <p:regular r:id="rId108"/>
      <p:italic r:id="rId109"/>
    </p:embeddedFont>
    <p:embeddedFont>
      <p:font typeface="Plus Jakarta Sans" panose="020B0604020202020204" charset="0"/>
      <p:regular r:id="rId110"/>
      <p:bold r:id="rId111"/>
      <p:italic r:id="rId112"/>
      <p:boldItalic r:id="rId113"/>
    </p:embeddedFont>
    <p:embeddedFont>
      <p:font typeface="Plus Jakarta Sans SemiBold" panose="020B0604020202020204" charset="0"/>
      <p:regular r:id="rId114"/>
      <p:bold r:id="rId115"/>
      <p:italic r:id="rId116"/>
      <p:boldItalic r:id="rId117"/>
    </p:embeddedFont>
    <p:embeddedFont>
      <p:font typeface="Poppins" panose="00000500000000000000" pitchFamily="2" charset="0"/>
      <p:regular r:id="rId118"/>
      <p:bold r:id="rId119"/>
    </p:embeddedFont>
    <p:embeddedFont>
      <p:font typeface="Poppins SemiBold" panose="00000700000000000000" pitchFamily="2" charset="0"/>
      <p:bold r:id="rId120"/>
      <p:boldItalic r:id="rId121"/>
    </p:embeddedFont>
    <p:embeddedFont>
      <p:font typeface="Space Grotesk" panose="020B0604020202020204" charset="0"/>
      <p:regular r:id="rId122"/>
      <p:bold r:id="rId1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0" y="-6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font" Target="fonts/font29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font" Target="fonts/font1.fntdata"/><Relationship Id="rId112" Type="http://schemas.openxmlformats.org/officeDocument/2006/relationships/font" Target="fonts/font24.fntdata"/><Relationship Id="rId16" Type="http://schemas.openxmlformats.org/officeDocument/2006/relationships/slide" Target="slides/slide15.xml"/><Relationship Id="rId107" Type="http://schemas.openxmlformats.org/officeDocument/2006/relationships/font" Target="fonts/font19.fntdata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font" Target="fonts/font14.fntdata"/><Relationship Id="rId123" Type="http://schemas.openxmlformats.org/officeDocument/2006/relationships/font" Target="fonts/font35.fntdata"/><Relationship Id="rId5" Type="http://schemas.openxmlformats.org/officeDocument/2006/relationships/slide" Target="slides/slide4.xml"/><Relationship Id="rId90" Type="http://schemas.openxmlformats.org/officeDocument/2006/relationships/font" Target="fonts/font2.fntdata"/><Relationship Id="rId95" Type="http://schemas.openxmlformats.org/officeDocument/2006/relationships/font" Target="fonts/font7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font" Target="fonts/font25.fntdata"/><Relationship Id="rId118" Type="http://schemas.openxmlformats.org/officeDocument/2006/relationships/font" Target="fonts/font30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15.fntdata"/><Relationship Id="rId108" Type="http://schemas.openxmlformats.org/officeDocument/2006/relationships/font" Target="fonts/font20.fntdata"/><Relationship Id="rId124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font" Target="fonts/font3.fntdata"/><Relationship Id="rId96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font" Target="fonts/font26.fntdata"/><Relationship Id="rId119" Type="http://schemas.openxmlformats.org/officeDocument/2006/relationships/font" Target="fonts/font31.fntdata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21.fntdata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9.fntdata"/><Relationship Id="rId104" Type="http://schemas.openxmlformats.org/officeDocument/2006/relationships/font" Target="fonts/font16.fntdata"/><Relationship Id="rId120" Type="http://schemas.openxmlformats.org/officeDocument/2006/relationships/font" Target="fonts/font32.fntdata"/><Relationship Id="rId125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4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font" Target="fonts/font22.fntdata"/><Relationship Id="rId115" Type="http://schemas.openxmlformats.org/officeDocument/2006/relationships/font" Target="fonts/font27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12.fntdata"/><Relationship Id="rId105" Type="http://schemas.openxmlformats.org/officeDocument/2006/relationships/font" Target="fonts/font17.fntdata"/><Relationship Id="rId12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5.fntdata"/><Relationship Id="rId98" Type="http://schemas.openxmlformats.org/officeDocument/2006/relationships/font" Target="fonts/font10.fntdata"/><Relationship Id="rId121" Type="http://schemas.openxmlformats.org/officeDocument/2006/relationships/font" Target="fonts/font33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font" Target="fonts/font2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111" Type="http://schemas.openxmlformats.org/officeDocument/2006/relationships/font" Target="fonts/font23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font" Target="fonts/font18.fntdata"/><Relationship Id="rId12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font" Target="fonts/font6.fntdata"/><Relationship Id="rId99" Type="http://schemas.openxmlformats.org/officeDocument/2006/relationships/font" Target="fonts/font11.fntdata"/><Relationship Id="rId101" Type="http://schemas.openxmlformats.org/officeDocument/2006/relationships/font" Target="fonts/font13.fntdata"/><Relationship Id="rId122" Type="http://schemas.openxmlformats.org/officeDocument/2006/relationships/font" Target="fonts/font34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1328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9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5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25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25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7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7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10" Type="http://schemas.openxmlformats.org/officeDocument/2006/relationships/image" Target="../media/image89.png"/><Relationship Id="rId4" Type="http://schemas.openxmlformats.org/officeDocument/2006/relationships/image" Target="../media/image84.png"/><Relationship Id="rId9" Type="http://schemas.openxmlformats.org/officeDocument/2006/relationships/image" Target="../media/image8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77.png"/><Relationship Id="rId7" Type="http://schemas.openxmlformats.org/officeDocument/2006/relationships/image" Target="../media/image9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99.png"/><Relationship Id="rId7" Type="http://schemas.openxmlformats.org/officeDocument/2006/relationships/image" Target="../media/image10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7" Type="http://schemas.openxmlformats.org/officeDocument/2006/relationships/image" Target="../media/image1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7" Type="http://schemas.openxmlformats.org/officeDocument/2006/relationships/image" Target="../media/image10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99.png"/><Relationship Id="rId7" Type="http://schemas.openxmlformats.org/officeDocument/2006/relationships/image" Target="../media/image1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9.png"/><Relationship Id="rId7" Type="http://schemas.openxmlformats.org/officeDocument/2006/relationships/image" Target="../media/image1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126.png"/><Relationship Id="rId7" Type="http://schemas.openxmlformats.org/officeDocument/2006/relationships/image" Target="../media/image1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10" Type="http://schemas.openxmlformats.org/officeDocument/2006/relationships/image" Target="../media/image138.png"/><Relationship Id="rId4" Type="http://schemas.openxmlformats.org/officeDocument/2006/relationships/image" Target="../media/image132.png"/><Relationship Id="rId9" Type="http://schemas.openxmlformats.org/officeDocument/2006/relationships/image" Target="../media/image13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9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26.png"/><Relationship Id="rId7" Type="http://schemas.openxmlformats.org/officeDocument/2006/relationships/image" Target="../media/image14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4" Type="http://schemas.openxmlformats.org/officeDocument/2006/relationships/image" Target="../media/image140.png"/><Relationship Id="rId9" Type="http://schemas.openxmlformats.org/officeDocument/2006/relationships/image" Target="../media/image14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8.png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13" Type="http://schemas.openxmlformats.org/officeDocument/2006/relationships/image" Target="../media/image159.png"/><Relationship Id="rId18" Type="http://schemas.openxmlformats.org/officeDocument/2006/relationships/image" Target="../media/image164.png"/><Relationship Id="rId3" Type="http://schemas.openxmlformats.org/officeDocument/2006/relationships/image" Target="../media/image149.png"/><Relationship Id="rId21" Type="http://schemas.openxmlformats.org/officeDocument/2006/relationships/image" Target="../media/image167.png"/><Relationship Id="rId7" Type="http://schemas.openxmlformats.org/officeDocument/2006/relationships/image" Target="../media/image153.png"/><Relationship Id="rId12" Type="http://schemas.openxmlformats.org/officeDocument/2006/relationships/image" Target="../media/image158.png"/><Relationship Id="rId17" Type="http://schemas.openxmlformats.org/officeDocument/2006/relationships/image" Target="../media/image163.png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162.png"/><Relationship Id="rId20" Type="http://schemas.openxmlformats.org/officeDocument/2006/relationships/image" Target="../media/image1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2.png"/><Relationship Id="rId11" Type="http://schemas.openxmlformats.org/officeDocument/2006/relationships/image" Target="../media/image157.png"/><Relationship Id="rId5" Type="http://schemas.openxmlformats.org/officeDocument/2006/relationships/image" Target="../media/image151.png"/><Relationship Id="rId15" Type="http://schemas.openxmlformats.org/officeDocument/2006/relationships/image" Target="../media/image161.png"/><Relationship Id="rId10" Type="http://schemas.openxmlformats.org/officeDocument/2006/relationships/image" Target="../media/image156.png"/><Relationship Id="rId19" Type="http://schemas.openxmlformats.org/officeDocument/2006/relationships/image" Target="../media/image165.png"/><Relationship Id="rId4" Type="http://schemas.openxmlformats.org/officeDocument/2006/relationships/image" Target="../media/image150.png"/><Relationship Id="rId9" Type="http://schemas.openxmlformats.org/officeDocument/2006/relationships/image" Target="../media/image155.png"/><Relationship Id="rId14" Type="http://schemas.openxmlformats.org/officeDocument/2006/relationships/image" Target="../media/image16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3" Type="http://schemas.openxmlformats.org/officeDocument/2006/relationships/image" Target="../media/image149.png"/><Relationship Id="rId7" Type="http://schemas.openxmlformats.org/officeDocument/2006/relationships/image" Target="../media/image171.png"/><Relationship Id="rId12" Type="http://schemas.openxmlformats.org/officeDocument/2006/relationships/image" Target="../media/image17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0.png"/><Relationship Id="rId11" Type="http://schemas.openxmlformats.org/officeDocument/2006/relationships/image" Target="../media/image174.png"/><Relationship Id="rId5" Type="http://schemas.openxmlformats.org/officeDocument/2006/relationships/image" Target="../media/image169.png"/><Relationship Id="rId10" Type="http://schemas.openxmlformats.org/officeDocument/2006/relationships/image" Target="../media/image173.png"/><Relationship Id="rId4" Type="http://schemas.openxmlformats.org/officeDocument/2006/relationships/image" Target="../media/image168.png"/><Relationship Id="rId9" Type="http://schemas.openxmlformats.org/officeDocument/2006/relationships/image" Target="../media/image15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13" Type="http://schemas.openxmlformats.org/officeDocument/2006/relationships/image" Target="../media/image184.png"/><Relationship Id="rId3" Type="http://schemas.openxmlformats.org/officeDocument/2006/relationships/image" Target="../media/image149.png"/><Relationship Id="rId7" Type="http://schemas.openxmlformats.org/officeDocument/2006/relationships/image" Target="../media/image179.png"/><Relationship Id="rId12" Type="http://schemas.openxmlformats.org/officeDocument/2006/relationships/image" Target="../media/image18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8.png"/><Relationship Id="rId11" Type="http://schemas.openxmlformats.org/officeDocument/2006/relationships/image" Target="../media/image182.png"/><Relationship Id="rId5" Type="http://schemas.openxmlformats.org/officeDocument/2006/relationships/image" Target="../media/image177.png"/><Relationship Id="rId15" Type="http://schemas.openxmlformats.org/officeDocument/2006/relationships/image" Target="../media/image186.png"/><Relationship Id="rId10" Type="http://schemas.openxmlformats.org/officeDocument/2006/relationships/image" Target="../media/image181.png"/><Relationship Id="rId4" Type="http://schemas.openxmlformats.org/officeDocument/2006/relationships/image" Target="../media/image176.png"/><Relationship Id="rId9" Type="http://schemas.openxmlformats.org/officeDocument/2006/relationships/image" Target="../media/image180.png"/><Relationship Id="rId14" Type="http://schemas.openxmlformats.org/officeDocument/2006/relationships/image" Target="../media/image185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13" Type="http://schemas.openxmlformats.org/officeDocument/2006/relationships/image" Target="../media/image190.png"/><Relationship Id="rId18" Type="http://schemas.openxmlformats.org/officeDocument/2006/relationships/image" Target="../media/image194.png"/><Relationship Id="rId3" Type="http://schemas.openxmlformats.org/officeDocument/2006/relationships/image" Target="../media/image149.png"/><Relationship Id="rId21" Type="http://schemas.openxmlformats.org/officeDocument/2006/relationships/image" Target="../media/image197.png"/><Relationship Id="rId7" Type="http://schemas.openxmlformats.org/officeDocument/2006/relationships/image" Target="../media/image153.png"/><Relationship Id="rId12" Type="http://schemas.openxmlformats.org/officeDocument/2006/relationships/image" Target="../media/image189.png"/><Relationship Id="rId17" Type="http://schemas.openxmlformats.org/officeDocument/2006/relationships/image" Target="../media/image193.png"/><Relationship Id="rId2" Type="http://schemas.openxmlformats.org/officeDocument/2006/relationships/notesSlide" Target="../notesSlides/notesSlide38.xml"/><Relationship Id="rId16" Type="http://schemas.openxmlformats.org/officeDocument/2006/relationships/image" Target="../media/image192.png"/><Relationship Id="rId20" Type="http://schemas.openxmlformats.org/officeDocument/2006/relationships/image" Target="../media/image1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2.png"/><Relationship Id="rId11" Type="http://schemas.openxmlformats.org/officeDocument/2006/relationships/image" Target="../media/image157.png"/><Relationship Id="rId5" Type="http://schemas.openxmlformats.org/officeDocument/2006/relationships/image" Target="../media/image151.png"/><Relationship Id="rId15" Type="http://schemas.openxmlformats.org/officeDocument/2006/relationships/image" Target="../media/image161.png"/><Relationship Id="rId10" Type="http://schemas.openxmlformats.org/officeDocument/2006/relationships/image" Target="../media/image159.png"/><Relationship Id="rId19" Type="http://schemas.openxmlformats.org/officeDocument/2006/relationships/image" Target="../media/image195.png"/><Relationship Id="rId4" Type="http://schemas.openxmlformats.org/officeDocument/2006/relationships/image" Target="../media/image187.png"/><Relationship Id="rId9" Type="http://schemas.openxmlformats.org/officeDocument/2006/relationships/image" Target="../media/image188.png"/><Relationship Id="rId14" Type="http://schemas.openxmlformats.org/officeDocument/2006/relationships/image" Target="../media/image19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2.png"/><Relationship Id="rId4" Type="http://schemas.openxmlformats.org/officeDocument/2006/relationships/image" Target="../media/image20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4.png"/><Relationship Id="rId4" Type="http://schemas.openxmlformats.org/officeDocument/2006/relationships/image" Target="../media/image20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5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3" Type="http://schemas.openxmlformats.org/officeDocument/2006/relationships/image" Target="../media/image198.png"/><Relationship Id="rId7" Type="http://schemas.openxmlformats.org/officeDocument/2006/relationships/image" Target="../media/image209.png"/><Relationship Id="rId12" Type="http://schemas.openxmlformats.org/officeDocument/2006/relationships/image" Target="../media/image21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8.png"/><Relationship Id="rId11" Type="http://schemas.openxmlformats.org/officeDocument/2006/relationships/image" Target="../media/image213.png"/><Relationship Id="rId5" Type="http://schemas.openxmlformats.org/officeDocument/2006/relationships/image" Target="../media/image207.png"/><Relationship Id="rId10" Type="http://schemas.openxmlformats.org/officeDocument/2006/relationships/image" Target="../media/image212.png"/><Relationship Id="rId4" Type="http://schemas.openxmlformats.org/officeDocument/2006/relationships/image" Target="../media/image206.png"/><Relationship Id="rId9" Type="http://schemas.openxmlformats.org/officeDocument/2006/relationships/image" Target="../media/image21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5.png"/><Relationship Id="rId4" Type="http://schemas.openxmlformats.org/officeDocument/2006/relationships/image" Target="../media/image20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7" Type="http://schemas.openxmlformats.org/officeDocument/2006/relationships/image" Target="../media/image21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8.png"/><Relationship Id="rId5" Type="http://schemas.openxmlformats.org/officeDocument/2006/relationships/image" Target="../media/image217.png"/><Relationship Id="rId4" Type="http://schemas.openxmlformats.org/officeDocument/2006/relationships/image" Target="../media/image21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2.png"/><Relationship Id="rId4" Type="http://schemas.openxmlformats.org/officeDocument/2006/relationships/image" Target="../media/image22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5.png"/><Relationship Id="rId4" Type="http://schemas.openxmlformats.org/officeDocument/2006/relationships/image" Target="../media/image22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9.png"/><Relationship Id="rId5" Type="http://schemas.openxmlformats.org/officeDocument/2006/relationships/image" Target="../media/image228.png"/><Relationship Id="rId4" Type="http://schemas.openxmlformats.org/officeDocument/2006/relationships/image" Target="../media/image227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png"/><Relationship Id="rId3" Type="http://schemas.openxmlformats.org/officeDocument/2006/relationships/image" Target="../media/image220.png"/><Relationship Id="rId7" Type="http://schemas.openxmlformats.org/officeDocument/2006/relationships/image" Target="../media/image233.png"/><Relationship Id="rId12" Type="http://schemas.openxmlformats.org/officeDocument/2006/relationships/image" Target="../media/image23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2.png"/><Relationship Id="rId11" Type="http://schemas.openxmlformats.org/officeDocument/2006/relationships/image" Target="../media/image237.png"/><Relationship Id="rId5" Type="http://schemas.openxmlformats.org/officeDocument/2006/relationships/image" Target="../media/image231.png"/><Relationship Id="rId10" Type="http://schemas.openxmlformats.org/officeDocument/2006/relationships/image" Target="../media/image236.png"/><Relationship Id="rId4" Type="http://schemas.openxmlformats.org/officeDocument/2006/relationships/image" Target="../media/image230.png"/><Relationship Id="rId9" Type="http://schemas.openxmlformats.org/officeDocument/2006/relationships/image" Target="../media/image23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0.png"/><Relationship Id="rId4" Type="http://schemas.openxmlformats.org/officeDocument/2006/relationships/image" Target="../media/image23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3.png"/><Relationship Id="rId4" Type="http://schemas.openxmlformats.org/officeDocument/2006/relationships/image" Target="../media/image24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png"/><Relationship Id="rId3" Type="http://schemas.openxmlformats.org/officeDocument/2006/relationships/image" Target="../media/image241.png"/><Relationship Id="rId7" Type="http://schemas.openxmlformats.org/officeDocument/2006/relationships/image" Target="../media/image248.png"/><Relationship Id="rId12" Type="http://schemas.openxmlformats.org/officeDocument/2006/relationships/image" Target="../media/image25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7.png"/><Relationship Id="rId11" Type="http://schemas.openxmlformats.org/officeDocument/2006/relationships/image" Target="../media/image252.png"/><Relationship Id="rId5" Type="http://schemas.openxmlformats.org/officeDocument/2006/relationships/image" Target="../media/image246.png"/><Relationship Id="rId10" Type="http://schemas.openxmlformats.org/officeDocument/2006/relationships/image" Target="../media/image251.png"/><Relationship Id="rId4" Type="http://schemas.openxmlformats.org/officeDocument/2006/relationships/image" Target="../media/image245.png"/><Relationship Id="rId9" Type="http://schemas.openxmlformats.org/officeDocument/2006/relationships/image" Target="../media/image25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7" Type="http://schemas.openxmlformats.org/officeDocument/2006/relationships/image" Target="../media/image25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7.png"/><Relationship Id="rId5" Type="http://schemas.openxmlformats.org/officeDocument/2006/relationships/image" Target="../media/image256.png"/><Relationship Id="rId4" Type="http://schemas.openxmlformats.org/officeDocument/2006/relationships/image" Target="../media/image25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0.png"/><Relationship Id="rId4" Type="http://schemas.openxmlformats.org/officeDocument/2006/relationships/image" Target="../media/image259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7" Type="http://schemas.openxmlformats.org/officeDocument/2006/relationships/image" Target="../media/image26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2.png"/><Relationship Id="rId5" Type="http://schemas.openxmlformats.org/officeDocument/2006/relationships/image" Target="../media/image261.png"/><Relationship Id="rId4" Type="http://schemas.openxmlformats.org/officeDocument/2006/relationships/image" Target="../media/image14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7.png"/><Relationship Id="rId4" Type="http://schemas.openxmlformats.org/officeDocument/2006/relationships/image" Target="../media/image26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png"/><Relationship Id="rId7" Type="http://schemas.openxmlformats.org/officeDocument/2006/relationships/image" Target="../media/image27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0.png"/><Relationship Id="rId5" Type="http://schemas.openxmlformats.org/officeDocument/2006/relationships/image" Target="../media/image269.png"/><Relationship Id="rId4" Type="http://schemas.openxmlformats.org/officeDocument/2006/relationships/image" Target="../media/image268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2.png"/><Relationship Id="rId4" Type="http://schemas.openxmlformats.org/officeDocument/2006/relationships/image" Target="../media/image13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4.png"/><Relationship Id="rId4" Type="http://schemas.openxmlformats.org/officeDocument/2006/relationships/image" Target="../media/image273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8.png"/><Relationship Id="rId3" Type="http://schemas.openxmlformats.org/officeDocument/2006/relationships/image" Target="../media/image265.png"/><Relationship Id="rId7" Type="http://schemas.openxmlformats.org/officeDocument/2006/relationships/image" Target="../media/image209.png"/><Relationship Id="rId12" Type="http://schemas.openxmlformats.org/officeDocument/2006/relationships/image" Target="../media/image28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7.png"/><Relationship Id="rId11" Type="http://schemas.openxmlformats.org/officeDocument/2006/relationships/image" Target="../media/image280.png"/><Relationship Id="rId5" Type="http://schemas.openxmlformats.org/officeDocument/2006/relationships/image" Target="../media/image276.png"/><Relationship Id="rId10" Type="http://schemas.openxmlformats.org/officeDocument/2006/relationships/image" Target="../media/image279.png"/><Relationship Id="rId4" Type="http://schemas.openxmlformats.org/officeDocument/2006/relationships/image" Target="../media/image275.png"/><Relationship Id="rId9" Type="http://schemas.openxmlformats.org/officeDocument/2006/relationships/image" Target="../media/image21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png"/><Relationship Id="rId7" Type="http://schemas.openxmlformats.org/officeDocument/2006/relationships/image" Target="../media/image284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5" Type="http://schemas.openxmlformats.org/officeDocument/2006/relationships/image" Target="../media/image283.png"/><Relationship Id="rId4" Type="http://schemas.openxmlformats.org/officeDocument/2006/relationships/image" Target="../media/image28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5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5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8.png"/><Relationship Id="rId4" Type="http://schemas.openxmlformats.org/officeDocument/2006/relationships/image" Target="../media/image28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9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5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9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5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2.png"/><Relationship Id="rId4" Type="http://schemas.openxmlformats.org/officeDocument/2006/relationships/image" Target="../media/image29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9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png"/><Relationship Id="rId3" Type="http://schemas.openxmlformats.org/officeDocument/2006/relationships/image" Target="../media/image285.png"/><Relationship Id="rId7" Type="http://schemas.openxmlformats.org/officeDocument/2006/relationships/image" Target="../media/image296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5.png"/><Relationship Id="rId5" Type="http://schemas.openxmlformats.org/officeDocument/2006/relationships/image" Target="../media/image294.png"/><Relationship Id="rId4" Type="http://schemas.openxmlformats.org/officeDocument/2006/relationships/image" Target="../media/image293.png"/><Relationship Id="rId9" Type="http://schemas.openxmlformats.org/officeDocument/2006/relationships/image" Target="../media/image298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5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9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1.png"/><Relationship Id="rId7" Type="http://schemas.openxmlformats.org/officeDocument/2006/relationships/image" Target="../media/image305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4.png"/><Relationship Id="rId5" Type="http://schemas.openxmlformats.org/officeDocument/2006/relationships/image" Target="../media/image303.png"/><Relationship Id="rId4" Type="http://schemas.openxmlformats.org/officeDocument/2006/relationships/image" Target="../media/image302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6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8.png"/><Relationship Id="rId4" Type="http://schemas.openxmlformats.org/officeDocument/2006/relationships/image" Target="../media/image307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3.png"/><Relationship Id="rId3" Type="http://schemas.openxmlformats.org/officeDocument/2006/relationships/image" Target="../media/image9.png"/><Relationship Id="rId7" Type="http://schemas.openxmlformats.org/officeDocument/2006/relationships/image" Target="../media/image312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1.png"/><Relationship Id="rId11" Type="http://schemas.openxmlformats.org/officeDocument/2006/relationships/image" Target="../media/image316.png"/><Relationship Id="rId5" Type="http://schemas.openxmlformats.org/officeDocument/2006/relationships/image" Target="../media/image310.png"/><Relationship Id="rId10" Type="http://schemas.openxmlformats.org/officeDocument/2006/relationships/image" Target="../media/image315.png"/><Relationship Id="rId4" Type="http://schemas.openxmlformats.org/officeDocument/2006/relationships/image" Target="../media/image309.png"/><Relationship Id="rId9" Type="http://schemas.openxmlformats.org/officeDocument/2006/relationships/image" Target="../media/image314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20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9.png"/><Relationship Id="rId5" Type="http://schemas.openxmlformats.org/officeDocument/2006/relationships/image" Target="../media/image318.png"/><Relationship Id="rId4" Type="http://schemas.openxmlformats.org/officeDocument/2006/relationships/image" Target="../media/image317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5.png"/><Relationship Id="rId13" Type="http://schemas.openxmlformats.org/officeDocument/2006/relationships/image" Target="../media/image328.png"/><Relationship Id="rId3" Type="http://schemas.openxmlformats.org/officeDocument/2006/relationships/image" Target="../media/image9.png"/><Relationship Id="rId7" Type="http://schemas.openxmlformats.org/officeDocument/2006/relationships/image" Target="../media/image324.png"/><Relationship Id="rId12" Type="http://schemas.openxmlformats.org/officeDocument/2006/relationships/image" Target="../media/image327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3.png"/><Relationship Id="rId11" Type="http://schemas.openxmlformats.org/officeDocument/2006/relationships/image" Target="../media/image326.png"/><Relationship Id="rId5" Type="http://schemas.openxmlformats.org/officeDocument/2006/relationships/image" Target="../media/image322.png"/><Relationship Id="rId10" Type="http://schemas.openxmlformats.org/officeDocument/2006/relationships/image" Target="../media/image20.png"/><Relationship Id="rId4" Type="http://schemas.openxmlformats.org/officeDocument/2006/relationships/image" Target="../media/image321.png"/><Relationship Id="rId9" Type="http://schemas.openxmlformats.org/officeDocument/2006/relationships/image" Target="../media/image19.png"/><Relationship Id="rId14" Type="http://schemas.openxmlformats.org/officeDocument/2006/relationships/image" Target="../media/image329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4.png"/><Relationship Id="rId3" Type="http://schemas.openxmlformats.org/officeDocument/2006/relationships/image" Target="../media/image9.png"/><Relationship Id="rId7" Type="http://schemas.openxmlformats.org/officeDocument/2006/relationships/image" Target="../media/image333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2.png"/><Relationship Id="rId5" Type="http://schemas.openxmlformats.org/officeDocument/2006/relationships/image" Target="../media/image331.png"/><Relationship Id="rId4" Type="http://schemas.openxmlformats.org/officeDocument/2006/relationships/image" Target="../media/image33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6.png"/><Relationship Id="rId4" Type="http://schemas.openxmlformats.org/officeDocument/2006/relationships/image" Target="../media/image3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2975" y="3788325"/>
            <a:ext cx="3404950" cy="4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7475" y="3812650"/>
            <a:ext cx="3222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29400" y="3812650"/>
            <a:ext cx="27796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295400" y="1412273"/>
            <a:ext cx="9601200" cy="12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Practical AI Coding and Debugging with GitHub Copilot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793063" y="2964138"/>
            <a:ext cx="8973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Day 1: Foundations of AI-Assisted Engineering, Modern Workflows</a:t>
            </a:r>
            <a:endParaRPr sz="2200" b="1"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2431" y="1566550"/>
            <a:ext cx="290544" cy="350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11325" y="3936476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80525" y="3936476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42350" y="3936476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042875" y="4895698"/>
            <a:ext cx="375944" cy="4296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1929875" y="4895688"/>
            <a:ext cx="86997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Instructors: </a:t>
            </a:r>
            <a:r>
              <a:rPr lang="en-US" sz="2600" b="0" i="0" u="none" strike="noStrike" cap="non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Assistant Prof. Dr. Ang Sau Loong &amp;</a:t>
            </a:r>
            <a:endParaRPr sz="2600" b="0" i="0" u="none" strike="noStrike" cap="none">
              <a:solidFill>
                <a:srgbClr val="E2E8F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                               </a:t>
            </a:r>
            <a:r>
              <a:rPr lang="en-US" sz="2600" b="0" i="0" u="none" strike="noStrike" cap="non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Mr Goh Khoon Heng</a:t>
            </a:r>
            <a:endParaRPr sz="2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725" y="2500312"/>
            <a:ext cx="5495925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29350" y="2500312"/>
            <a:ext cx="5495925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02155" y="528637"/>
            <a:ext cx="162311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742950" y="2776537"/>
            <a:ext cx="519064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Morning Session (9:00 AM – 12:30 PM)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42950" y="3176587"/>
            <a:ext cx="49434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1F5F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Foundations of AI-Assisted Engineering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505575" y="2776537"/>
            <a:ext cx="519064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Afternoon Session (1:30 PM – 5:00 PM)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505575" y="3176587"/>
            <a:ext cx="49434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1F5F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AI-Assisted Debugging &amp; Refactoring</a:t>
            </a:r>
            <a:endParaRPr/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6075" y="2814637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933450" y="3519487"/>
            <a:ext cx="475297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09:00 - 09:30: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Introduction &amp; Course Expectations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33450" y="3829050"/>
            <a:ext cx="475297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09:30 - 10:45: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Prompt Engineering &amp; Development Workflows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33450" y="4138612"/>
            <a:ext cx="475297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10:45 - 12:00: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Hands-on AI-Assisted Code Generation Lab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33450" y="4448175"/>
            <a:ext cx="475297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12:00 - 12:30: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Practical Assessment &amp; Group Reflection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696075" y="3519487"/>
            <a:ext cx="475297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01:30 - 02:30: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AI-Assisted Debugging Fundamentals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696075" y="3829050"/>
            <a:ext cx="475297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02:30 - 03:45: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Hands-on Debugging &amp; Troubleshooting Lab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696075" y="4138612"/>
            <a:ext cx="47529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03:45 - 04:30: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AI-Assisted Code Refactoring 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696075" y="4448175"/>
            <a:ext cx="475297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04:30 - 05:00: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Assessment, Submissions &amp; Day 1 Wrap-up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742950" y="3500437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742950" y="3810000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742950" y="4119562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742950" y="4429125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505575" y="3500437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6505575" y="3810000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505575" y="4119562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505575" y="4429125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466725" y="466725"/>
            <a:ext cx="112585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Day 1 Master Schedule</a:t>
            </a:r>
            <a:endParaRPr/>
          </a:p>
        </p:txBody>
      </p:sp>
      <p:pic>
        <p:nvPicPr>
          <p:cNvPr id="125" name="Google Shape;12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63675" y="2805112"/>
            <a:ext cx="2095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725" y="2463403"/>
            <a:ext cx="2671762" cy="2607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28987" y="2463403"/>
            <a:ext cx="2671762" cy="2607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2463403"/>
            <a:ext cx="2671762" cy="2607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53512" y="2463403"/>
            <a:ext cx="2671762" cy="2607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219729" y="528637"/>
            <a:ext cx="150554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04850" y="2701528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 txBox="1"/>
          <p:nvPr/>
        </p:nvSpPr>
        <p:spPr>
          <a:xfrm>
            <a:off x="704850" y="3349228"/>
            <a:ext cx="230528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Course Overview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704850" y="3682603"/>
            <a:ext cx="2195512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Understanding learning objectives, practical milestones, and real-world engineering productivity goals for the workshop.</a:t>
            </a:r>
            <a:endParaRPr dirty="0"/>
          </a:p>
        </p:txBody>
      </p:sp>
      <p:pic>
        <p:nvPicPr>
          <p:cNvPr id="139" name="Google Shape;139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567112" y="2701528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3567112" y="3349228"/>
            <a:ext cx="230528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Workflows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3567112" y="3682603"/>
            <a:ext cx="2195512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Introduction to modern AI-assisted engineering workflows across development, verification, and code quality maintenance.</a:t>
            </a:r>
            <a:endParaRPr/>
          </a:p>
        </p:txBody>
      </p:sp>
      <p:pic>
        <p:nvPicPr>
          <p:cNvPr id="142" name="Google Shape;14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29375" y="2701528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 txBox="1"/>
          <p:nvPr/>
        </p:nvSpPr>
        <p:spPr>
          <a:xfrm>
            <a:off x="6429375" y="3349228"/>
            <a:ext cx="230528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Role of AI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6429375" y="3682603"/>
            <a:ext cx="2195512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Evaluating how AI augments software engineering and hardware verification environments without replacing human oversight.</a:t>
            </a:r>
            <a:endParaRPr/>
          </a:p>
        </p:txBody>
      </p:sp>
      <p:pic>
        <p:nvPicPr>
          <p:cNvPr id="145" name="Google Shape;145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291637" y="2701528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/>
        </p:nvSpPr>
        <p:spPr>
          <a:xfrm>
            <a:off x="9291637" y="3349228"/>
            <a:ext cx="230528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Live Demonstration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9291637" y="3682603"/>
            <a:ext cx="2195512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Quick live demonstration of real-time AI-powered inline coding assistance using GitHub Copilot in the IDE.</a:t>
            </a:r>
            <a:endParaRPr/>
          </a:p>
        </p:txBody>
      </p:sp>
      <p:pic>
        <p:nvPicPr>
          <p:cNvPr id="148" name="Google Shape;148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19150" y="2815828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62362" y="2815828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543675" y="2815828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420225" y="2815828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5"/>
          <p:cNvSpPr txBox="1"/>
          <p:nvPr/>
        </p:nvSpPr>
        <p:spPr>
          <a:xfrm>
            <a:off x="466725" y="466725"/>
            <a:ext cx="112585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Introduction to AI Engineering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55561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19312"/>
            <a:ext cx="3549550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1075" y="2119312"/>
            <a:ext cx="3549699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1275" y="2119312"/>
            <a:ext cx="3549550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167187"/>
            <a:ext cx="5419576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91101" y="4167187"/>
            <a:ext cx="5419725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81025" y="1700212"/>
            <a:ext cx="11030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5B4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By the end of this workshop, participants will be able to: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9150" y="2338387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819150" y="2833687"/>
            <a:ext cx="32271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Strategic Value Creation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19150" y="3148012"/>
            <a:ext cx="30732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 AI effectively in software engineering by understanding exactly where AI adds value across the lifecycle.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59200" y="2338387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4559200" y="2833687"/>
            <a:ext cx="32271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Engineering Prompts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559200" y="3148012"/>
            <a:ext cx="30735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Write better prompts tailored for code generation, refactoring, debugging, and comprehensive test suites.</a:t>
            </a:r>
            <a:endParaRPr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299400" y="2338387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8299400" y="2833687"/>
            <a:ext cx="3227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Ask → Refine → Validate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299400" y="3157537"/>
            <a:ext cx="30732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Apply the core iterative workflow and know when to trust or verify AI-generated engineering outputs.</a:t>
            </a:r>
            <a:endParaRPr/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23925" y="244316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649688" y="2443162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404175" y="244316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19150" y="4386262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819150" y="4881562"/>
            <a:ext cx="51906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Responsible Acceleration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19150" y="5195887"/>
            <a:ext cx="494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 AI responsibly to support faster development cycles, elevate code quality, and improve developer experience.</a:t>
            </a:r>
            <a:endParaRPr/>
          </a:p>
        </p:txBody>
      </p:sp>
      <p:pic>
        <p:nvPicPr>
          <p:cNvPr id="115" name="Google Shape;115;p14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429226" y="4386262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6429226" y="4881562"/>
            <a:ext cx="51906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Safety &amp; Governance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429226" y="5195887"/>
            <a:ext cx="494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Avoid common AI mistakes and enforce safe practices: zero secrets, no IP leaks, and proper code review.</a:t>
            </a:r>
            <a:endParaRPr/>
          </a:p>
        </p:txBody>
      </p:sp>
      <p:pic>
        <p:nvPicPr>
          <p:cNvPr id="118" name="Google Shape;118;p14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33450" y="449103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534001" y="449103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/>
        </p:nvSpPr>
        <p:spPr>
          <a:xfrm>
            <a:off x="581025" y="466725"/>
            <a:ext cx="115815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Workshop Learning Outcomes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581025" y="89535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600" y="1757362"/>
            <a:ext cx="52863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766887"/>
            <a:ext cx="5267325" cy="398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5527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4290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3148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7225" y="2647950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1076325" y="2533650"/>
            <a:ext cx="503062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Targeted Code Generation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1076325" y="2790825"/>
            <a:ext cx="479107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Formulate context-rich prompts tailored for clean generation, architectural refactoring, and multi-file debugging.</a:t>
            </a:r>
            <a:endParaRPr/>
          </a:p>
        </p:txBody>
      </p:sp>
      <p:pic>
        <p:nvPicPr>
          <p:cNvPr id="135" name="Google Shape;13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6275" y="352425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1076325" y="3409950"/>
            <a:ext cx="503062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Ask → Refine → Validate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1076325" y="3676650"/>
            <a:ext cx="479107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Engage in collaborative multi-turn refinement instead of relying on one-shot AI responses.</a:t>
            </a:r>
            <a:endParaRPr/>
          </a:p>
        </p:txBody>
      </p:sp>
      <p:pic>
        <p:nvPicPr>
          <p:cNvPr id="138" name="Google Shape;13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6275" y="441007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1076325" y="4295775"/>
            <a:ext cx="503062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Test Suites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1076325" y="4552950"/>
            <a:ext cx="479107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Leverage AI models to generate unit, integration, and edge-case test coverage instantly.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581025" y="466725"/>
            <a:ext cx="1158144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Prompting &amp; Iterative Workflow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581025" y="89535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57362"/>
            <a:ext cx="52863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1766887"/>
            <a:ext cx="5267325" cy="398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24600" y="25574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24600" y="34337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24600" y="43100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19850" y="265271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6819900" y="2538412"/>
            <a:ext cx="503062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Secrets Policy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6819900" y="2795587"/>
            <a:ext cx="479107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Ensure API keys, credentials, and private environment variables never leak into AI prompts.</a:t>
            </a:r>
            <a:endParaRPr/>
          </a:p>
        </p:txBody>
      </p:sp>
      <p:pic>
        <p:nvPicPr>
          <p:cNvPr id="156" name="Google Shape;156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29375" y="3529012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6819900" y="3414712"/>
            <a:ext cx="503062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IP Leakage Protection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6819900" y="3671887"/>
            <a:ext cx="479107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Apply safe data boundaries to safeguard proprietary algorithms and company IP.</a:t>
            </a:r>
            <a:endParaRPr/>
          </a:p>
        </p:txBody>
      </p:sp>
      <p:pic>
        <p:nvPicPr>
          <p:cNvPr id="159" name="Google Shape;159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00800" y="4405312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 txBox="1"/>
          <p:nvPr/>
        </p:nvSpPr>
        <p:spPr>
          <a:xfrm>
            <a:off x="6819900" y="4291012"/>
            <a:ext cx="503062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Mandatory Human Review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6819900" y="4548187"/>
            <a:ext cx="479107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Treat all AI outputs as untrusted submissions requiring strict static analysis and peer review.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581025" y="466725"/>
            <a:ext cx="1158144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Security &amp; Safe AI Practices</a:t>
            </a:r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581025" y="89535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47862"/>
            <a:ext cx="35242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1947862"/>
            <a:ext cx="35242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86725" y="1947862"/>
            <a:ext cx="35242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857250" y="2957512"/>
            <a:ext cx="312039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Faster Cycles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857250" y="3338512"/>
            <a:ext cx="297180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Accelerate routine development tasks, boilerplate generation, and initial bug investigations.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4610100" y="2957512"/>
            <a:ext cx="312039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Quality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4610100" y="3338512"/>
            <a:ext cx="297180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Elevate overall code consistency, inline documentation, and comprehensive unit test coverage.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8362950" y="2957512"/>
            <a:ext cx="312039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Better DX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8362950" y="3338512"/>
            <a:ext cx="297180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Reduce cognitive fatigue and developer burnout by delegating repetitive toil to AI assistants.</a:t>
            </a:r>
            <a:endParaRPr/>
          </a:p>
        </p:txBody>
      </p:sp>
      <p:pic>
        <p:nvPicPr>
          <p:cNvPr id="178" name="Google Shape;17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23383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0100" y="2338387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62950" y="23383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 txBox="1"/>
          <p:nvPr/>
        </p:nvSpPr>
        <p:spPr>
          <a:xfrm>
            <a:off x="581025" y="466725"/>
            <a:ext cx="1158144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Value &amp; Developer Experience</a:t>
            </a: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581025" y="89535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81275"/>
            <a:ext cx="352425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581275"/>
            <a:ext cx="352425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86725" y="2581275"/>
            <a:ext cx="352425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2857500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57250" y="3543300"/>
            <a:ext cx="312039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Review &amp; Commit Friction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57250" y="3886200"/>
            <a:ext cx="29718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Committing and reviewing AI-written code introduces non-trivial overhead. Subtle logic errors and bloated diffs require careful human inspection.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0100" y="2857500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4610100" y="3543300"/>
            <a:ext cx="312039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Prompt Misunderstandings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610100" y="3886200"/>
            <a:ext cx="29718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Scenarios where specific task prompts lead to misunderstood context and wrong code require vigilant prompt iteration and specification refinement.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62950" y="2857500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8362950" y="3543300"/>
            <a:ext cx="312039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Steering vs Writing Time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362950" y="3886200"/>
            <a:ext cx="29718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Significant engineering time is spent steering the AI, providing contextual clues, and guiding LLMs to generate truly relevant and idiomatic code.</a:t>
            </a:r>
            <a:endParaRPr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81075" y="298132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33925" y="298132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515350" y="2981325"/>
            <a:ext cx="1905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Practical Challenges in AI Coding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75495"/>
            <a:ext cx="5276850" cy="105147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81025" y="581025"/>
            <a:ext cx="554069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Purposeful AI Integration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81025" y="1323975"/>
            <a:ext cx="554069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Amplification, Not Blind Automation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81025" y="1685925"/>
            <a:ext cx="52768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primary purpose of adding AI to software development is workflow amplification—augmenting developer reasoning rather than blindly delegating architectural decisions.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62000" y="2889795"/>
            <a:ext cx="49434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Strategic usage targets repetitive boilerplate, intent translation, and rapid prototyping while retaining strict human domain control.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2946945"/>
            <a:ext cx="1333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62250"/>
            <a:ext cx="5324475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762250"/>
            <a:ext cx="5324475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895350" y="3076575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Generation vs. Reliability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95350" y="3438525"/>
            <a:ext cx="4695825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true bottleneck in AI usage is </a:t>
            </a:r>
            <a:r>
              <a:rPr lang="en-US" sz="1275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 code generation speed</a:t>
            </a: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The real challenge lies in verifying if generated code is battle-tested, maintainable, and capable of operating 24/7 non-failing in production environments.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600825" y="3076575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Shift in Knowledge Retrieval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600825" y="3438525"/>
            <a:ext cx="4695825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 current trajectories, AI directly replaces traditional Google searches and StackOverflow scraping for debugging. Public GitHub repos now form core LLM training datasets, shifting developer problem-solving directly into context windows.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Real Production Bottleneck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890837"/>
            <a:ext cx="5324475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3281362"/>
            <a:ext cx="4543425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971550" y="4081462"/>
            <a:ext cx="45434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Real-World Software Evaluation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286500" y="2897981"/>
            <a:ext cx="559069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Measuring Autonomous Issue Resolution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286500" y="3259931"/>
            <a:ext cx="5324475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Modern LLMs are evaluated against rigorous datasets like </a:t>
            </a:r>
            <a:r>
              <a:rPr lang="en-US" sz="1275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SWE-bench</a:t>
            </a: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testing how many actual GitHub Pull Requests an agent can resolve autonomously.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286500" y="4102893"/>
            <a:ext cx="532447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This evaluates true problem-solving capabilities, spanning repo navigation, test execution, bug localization, and patch generation.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AI Benchmarks &amp; Code Search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2966" y="1844038"/>
            <a:ext cx="2251769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558813" y="2718036"/>
            <a:ext cx="7074372" cy="142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Leveraging AI in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200" b="1" i="0" u="none" strike="noStrike" cap="none" dirty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Software Verification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2374490" y="4866324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Transforming software quality through automated test generation and intelligent code evaluation agents.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95636"/>
            <a:ext cx="5372100" cy="3581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995636"/>
            <a:ext cx="5372100" cy="3581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5350" y="2309961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95350" y="2995761"/>
            <a:ext cx="498062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1. AI-Generated Testing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95350" y="3376761"/>
            <a:ext cx="47434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Automated test suite creation driven by user-defined criteria, optimized for repeatable execution in CI/CD pipelines.</a:t>
            </a:r>
            <a:endParaRPr/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3200" y="2309961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6553200" y="2995761"/>
            <a:ext cx="498062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2. AI Agent Code Evaluation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553200" y="3376761"/>
            <a:ext cx="47434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Intelligent agent inspection focused on identifying logical flaws, potential bugs, and enforcing code quality standards.</a:t>
            </a:r>
            <a:endParaRPr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3937" y="2452836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1162050" y="4131022"/>
            <a:ext cx="4476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Dynamic criterion-based test generation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162050" y="4508152"/>
            <a:ext cx="4476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Reusable across multiple build cycles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162050" y="4885283"/>
            <a:ext cx="4476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Native GitHub Workflows integration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0" y="2452836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6819900" y="4131022"/>
            <a:ext cx="4476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Single-pass logical validity checks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819900" y="4508152"/>
            <a:ext cx="4476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Bug identification prior to runtime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819900" y="4885283"/>
            <a:ext cx="4476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Enforces engineering culture &amp; performance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AI Strategies for Quality Assurance</a:t>
            </a:r>
            <a:endParaRPr/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95350" y="4150072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95350" y="4527202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95350" y="4904333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53200" y="4150072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53200" y="4527202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53200" y="4904333"/>
            <a:ext cx="11430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3501205" y="2060433"/>
            <a:ext cx="614967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Continuous &amp; Reusable Test Generation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3501205" y="2441433"/>
            <a:ext cx="5856833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By defining explicit testing criteria, AI models generate tailored test cases that align perfectly with business logic and functional requirements.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3767905" y="3157594"/>
            <a:ext cx="5590133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Criteria Alignment: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Users define inputs, expected outputs, and constraints; AI builds edge-case coverage.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3767905" y="3778505"/>
            <a:ext cx="5590133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 Reusability: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Tests aren't disposable—they persistent as foundational regression suits.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3767905" y="4399416"/>
            <a:ext cx="5590133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GitHub Workflows: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Automatically triggers test suites on every pull request or merge event.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Testing in CI/CD Pipelines</a:t>
            </a:r>
            <a:endParaRPr/>
          </a:p>
        </p:txBody>
      </p:sp>
      <p:pic>
        <p:nvPicPr>
          <p:cNvPr id="129" name="Google Shape;12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01205" y="3176644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01205" y="3797555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01205" y="4418466"/>
            <a:ext cx="11430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5071020"/>
            <a:ext cx="110299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967954"/>
            <a:ext cx="5372100" cy="2817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967954"/>
            <a:ext cx="5372100" cy="2817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5350" y="4046190"/>
            <a:ext cx="4743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53200" y="4289970"/>
            <a:ext cx="4743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809625" y="5223420"/>
            <a:ext cx="106108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Key Insight:</a:t>
            </a:r>
            <a:r>
              <a:rPr lang="en-US" sz="1125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Correct execution isn't enough. AI Agents filter out poorly structured or high-latency code before it impacts technical debt.</a:t>
            </a:r>
            <a:endParaRPr/>
          </a:p>
        </p:txBody>
      </p:sp>
      <p:pic>
        <p:nvPicPr>
          <p:cNvPr id="143" name="Google Shape;14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95350" y="2282279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895350" y="2968079"/>
            <a:ext cx="498062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Logic &amp; Bug Detection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95350" y="3349079"/>
            <a:ext cx="47434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Executes deep static analysis to evaluate the validity of complex algorithms, preventing edge-case bugs early in the lifecycle.</a:t>
            </a:r>
            <a:endParaRPr/>
          </a:p>
        </p:txBody>
      </p:sp>
      <p:pic>
        <p:nvPicPr>
          <p:cNvPr id="146" name="Google Shape;14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53200" y="2282279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6553200" y="2968079"/>
            <a:ext cx="498062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Culture &amp; Quality Enforcement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553200" y="3349079"/>
            <a:ext cx="47434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Ensures code adheres to team-specific style, performance standards, and maintainability rules—even if the output is technically correct.</a:t>
            </a:r>
            <a:endParaRPr/>
          </a:p>
        </p:txBody>
      </p:sp>
      <p:pic>
        <p:nvPicPr>
          <p:cNvPr id="149" name="Google Shape;149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38225" y="2425154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96075" y="2425154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Evaluating Logic &amp; Code Quality with AI Agents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666083"/>
            <a:ext cx="1102995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810791"/>
            <a:ext cx="2614612" cy="1569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86137" y="1810791"/>
            <a:ext cx="2614612" cy="1569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1810791"/>
            <a:ext cx="2614612" cy="1569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96362" y="1810791"/>
            <a:ext cx="2614612" cy="1569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0550" y="3675608"/>
            <a:ext cx="11010900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819150" y="2048916"/>
            <a:ext cx="213836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01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819150" y="2267991"/>
            <a:ext cx="224528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Define Criteria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819150" y="2601366"/>
            <a:ext cx="2138362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User sets specifications and criteria for AI generation.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3624262" y="2048916"/>
            <a:ext cx="213836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02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3624262" y="2267991"/>
            <a:ext cx="224528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Generate Tests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3624262" y="2601366"/>
            <a:ext cx="2138362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AI builds reusable automated test scenarios.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429375" y="2048916"/>
            <a:ext cx="213836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03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429375" y="2267991"/>
            <a:ext cx="224528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Agent Evaluation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429375" y="2601366"/>
            <a:ext cx="2138362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AI agent evaluates code logic and cultural fit.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9234487" y="2048916"/>
            <a:ext cx="213836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04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9234487" y="2267991"/>
            <a:ext cx="224528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CI/CD Execution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9234487" y="2601366"/>
            <a:ext cx="2138362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Seamless deployment inside GitHub Workflows.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End-to-End AI Verification Flow</a:t>
            </a:r>
            <a:endParaRPr/>
          </a:p>
        </p:txBody>
      </p:sp>
      <p:pic>
        <p:nvPicPr>
          <p:cNvPr id="176" name="Google Shape;17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24212" y="2586037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29325" y="2586037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34437" y="2586037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95525" y="1760190"/>
            <a:ext cx="7600950" cy="333747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2595562" y="2607915"/>
            <a:ext cx="700087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Elevating Engineering Standards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2762250" y="3207990"/>
            <a:ext cx="66675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Combining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AI-generated test pipelines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with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intelligent evaluation agents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establishes a complete safety net—protecting logic integrity, performance, and code quality at scale.</a:t>
            </a:r>
            <a:endParaRPr/>
          </a:p>
        </p:txBody>
      </p:sp>
      <p:pic>
        <p:nvPicPr>
          <p:cNvPr id="187" name="Google Shape;18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19800" y="224596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14787" y="4354710"/>
            <a:ext cx="12192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86387" y="4354710"/>
            <a:ext cx="14001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38962" y="4354710"/>
            <a:ext cx="123825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2354609"/>
            <a:ext cx="9001125" cy="1215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AI Coding Agents &amp;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35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Copilot Alternatives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760440"/>
            <a:ext cx="8572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 overview of GitHub Copilot, CLI alternatives (Claude Code, Codex, OpenCode, Pi CLI), and the mechanics of Coding vs. General Agents.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270521" y="2914650"/>
            <a:ext cx="7650956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/01  Copilot &amp; CLI Ecosystem</a:t>
            </a:r>
            <a:endParaRPr dirty="0"/>
          </a:p>
        </p:txBody>
      </p:sp>
      <p:sp>
        <p:nvSpPr>
          <p:cNvPr id="93" name="Google Shape;93;p14"/>
          <p:cNvSpPr txBox="1"/>
          <p:nvPr/>
        </p:nvSpPr>
        <p:spPr>
          <a:xfrm>
            <a:off x="2524125" y="3829050"/>
            <a:ext cx="7143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From IDE autocomplete extensions to terminal-native autonomous coding agents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52650"/>
            <a:ext cx="5324475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2162175"/>
            <a:ext cx="5305425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923925" y="2152650"/>
            <a:ext cx="49815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IDE Integration: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Seamlessly provides inline completion and chat inside VS Code, JetBrains, and Visual Studio.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923925" y="2857500"/>
            <a:ext cx="49815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Workspace Context: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Indexing project structures to predict multi-line edits and code completions.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23925" y="3562350"/>
            <a:ext cx="49815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Terminal Extension: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Offers Copilot CLI capabilities for command assistance and PR workflows.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23925" y="4267200"/>
            <a:ext cx="49815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Enterprise Standard: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Polished user interface backed by managed models with enterprise compliance.</a:t>
            </a:r>
            <a:endParaRPr/>
          </a:p>
        </p:txBody>
      </p:sp>
      <p:pic>
        <p:nvPicPr>
          <p:cNvPr id="105" name="Google Shape;10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18598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289083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359568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1025" y="430053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GitHub Copilot Overview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09862"/>
            <a:ext cx="5324475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709862"/>
            <a:ext cx="5324475" cy="23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923925" y="3052762"/>
            <a:ext cx="4870608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Claude Code CLI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923925" y="3538537"/>
            <a:ext cx="463867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Anthropic's terminal agent designed for deep repository editing. Features sub-agent orchestration, file reads/edits, automated shell execution, and auto-memory persistence across sessions.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6629400" y="3052762"/>
            <a:ext cx="4870608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OpenAI Codex CLI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629400" y="3538537"/>
            <a:ext cx="463867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High-performance CLI tool written in Rust. Features native GPT model integration, OS-level containerized sandboxing by default, and seamless task handoff to cloud environments.</a:t>
            </a:r>
            <a:endParaRPr/>
          </a:p>
        </p:txBody>
      </p:sp>
      <p:pic>
        <p:nvPicPr>
          <p:cNvPr id="121" name="Google Shape;12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3925" y="3109912"/>
            <a:ext cx="2762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9400" y="3109912"/>
            <a:ext cx="2190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Closed-Source CLI Pioneers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09862"/>
            <a:ext cx="5324475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709862"/>
            <a:ext cx="5324475" cy="23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923925" y="3052762"/>
            <a:ext cx="4870608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4D39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Pi CLI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923925" y="3538537"/>
            <a:ext cx="463867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minimalist, MIT-licensed terminal coding harness. Model-agnostic with BYOK (Bring Your Own Key) support, flexible workflow extensions, custom skills, and low system overhead.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6629400" y="3052762"/>
            <a:ext cx="4870608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95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OpenCode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629400" y="3538537"/>
            <a:ext cx="463867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popular open-source terminal UI (TUI) agent. Integrates with 75+ model providers, native Language Server Protocol (LSP) diagnostics, context auto-compression, and local Ollama support.</a:t>
            </a:r>
            <a:endParaRPr/>
          </a:p>
        </p:txBody>
      </p:sp>
      <p:pic>
        <p:nvPicPr>
          <p:cNvPr id="135" name="Google Shape;13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3925" y="3109912"/>
            <a:ext cx="2762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9400" y="3109912"/>
            <a:ext cx="3143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Open-Source CLI Alternatives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3" name="Google Shape;143;p18"/>
          <p:cNvGraphicFramePr/>
          <p:nvPr/>
        </p:nvGraphicFramePr>
        <p:xfrm>
          <a:off x="581025" y="2224087"/>
          <a:ext cx="11029950" cy="328607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90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7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8BDF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Tool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8BDF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Type / License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8BDF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Model Support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8BDF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Primary Focus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GitHub Copilot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Closed Source (SaaS)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Managed / Multi-model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IDE inline completion &amp; workspace chat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Claude Code CLI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Proprietary CLI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Claude (Sonnet / Opus)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Deep repo refactoring &amp; sub-agent loops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OpenAI Codex CLI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Open Source (Apache 2.0)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GPT Models &amp; Local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Rust-based speed &amp; OS sandboxing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OpenCode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Open Source (Go)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75+ Providers &amp; Local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Full TUI, LSP integration, &amp; context management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Pi CLI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Open Source (MIT)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 Agnostic (BYOK)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Minimalist harness &amp; extension ecosystem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4" name="Google Shape;144;p18"/>
          <p:cNvSpPr/>
          <p:nvPr/>
        </p:nvSpPr>
        <p:spPr>
          <a:xfrm>
            <a:off x="581025" y="2781300"/>
            <a:ext cx="190351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2484536" y="2781300"/>
            <a:ext cx="25590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5043636" y="2781300"/>
            <a:ext cx="230534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7348983" y="2781300"/>
            <a:ext cx="42619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581025" y="3324225"/>
            <a:ext cx="190351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2484536" y="3324225"/>
            <a:ext cx="25590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5043636" y="3324225"/>
            <a:ext cx="230534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7348983" y="3324225"/>
            <a:ext cx="42619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581025" y="3867150"/>
            <a:ext cx="190351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2484536" y="3867150"/>
            <a:ext cx="25590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5043636" y="3867150"/>
            <a:ext cx="230534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7348983" y="3867150"/>
            <a:ext cx="42619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581025" y="4410075"/>
            <a:ext cx="190351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2484536" y="4410075"/>
            <a:ext cx="25590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5043636" y="4410075"/>
            <a:ext cx="230534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7348983" y="4410075"/>
            <a:ext cx="42619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581025" y="4953000"/>
            <a:ext cx="190351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2484536" y="4953000"/>
            <a:ext cx="25590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5043636" y="4953000"/>
            <a:ext cx="230534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7348983" y="4953000"/>
            <a:ext cx="42619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581025" y="5495925"/>
            <a:ext cx="190351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2484536" y="5495925"/>
            <a:ext cx="25590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5043636" y="5495925"/>
            <a:ext cx="230534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7348983" y="5495925"/>
            <a:ext cx="42619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Agent Landscape Comparison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1865471" y="3071812"/>
            <a:ext cx="8461057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/02  Coding vs. General Agents</a:t>
            </a:r>
            <a:endParaRPr dirty="0"/>
          </a:p>
        </p:txBody>
      </p:sp>
      <p:sp>
        <p:nvSpPr>
          <p:cNvPr id="175" name="Google Shape;175;p19"/>
          <p:cNvSpPr txBox="1"/>
          <p:nvPr/>
        </p:nvSpPr>
        <p:spPr>
          <a:xfrm>
            <a:off x="2524125" y="3986212"/>
            <a:ext cx="7143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Analyzing interface abstractions, privilege levels, and system capabilities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09862"/>
            <a:ext cx="5324475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709862"/>
            <a:ext cx="5324475" cy="23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923925" y="3052762"/>
            <a:ext cx="4870608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General Agent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923925" y="3538537"/>
            <a:ext cx="463867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Built for broad end-users with intuitive web GUIs (e.g., ChatGPT web interface). Operates in isolated sandboxes with restricted tool access. Optimized for conversational ease rather than deep system control.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629400" y="3052762"/>
            <a:ext cx="4870608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AI Coding Agent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629400" y="3538537"/>
            <a:ext cx="463867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Built for software development. Grants direct filesystem access, shell execution, compiler diagnostics, and sub-agent spawning—while using the exact same underlying LLMs as general agents.</a:t>
            </a:r>
            <a:endParaRPr/>
          </a:p>
        </p:txBody>
      </p:sp>
      <p:pic>
        <p:nvPicPr>
          <p:cNvPr id="187" name="Google Shape;18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3925" y="3109912"/>
            <a:ext cx="2190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9400" y="3109912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General vs Coding Agents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85987"/>
            <a:ext cx="3486150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185987"/>
            <a:ext cx="3486150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185987"/>
            <a:ext cx="3486150" cy="33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876300" y="3109912"/>
            <a:ext cx="2070258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LSP Diagnostics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876300" y="3595687"/>
            <a:ext cx="28956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Connects directly to Language Server Protocols to receive syntax error feedback and auto-correct before presenting final output.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4648200" y="3109912"/>
            <a:ext cx="261032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Autonomous Loops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4648200" y="3595687"/>
            <a:ext cx="2895600" cy="154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Runs continuous loops: Plan edits $\rightarrow$ Modify files $\rightarrow$ Execute tests $\rightarrow$ Catch errors $\rightarrow$ Commit working code.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8420100" y="3109912"/>
            <a:ext cx="284035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4D39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Sub-Agent Spawning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8420100" y="3595687"/>
            <a:ext cx="28956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Spawns specialized sub-agents and parallel worker processes across git worktrees to tackle large multi-file tasks concurrently.</a:t>
            </a:r>
            <a:endParaRPr/>
          </a:p>
        </p:txBody>
      </p:sp>
      <p:pic>
        <p:nvPicPr>
          <p:cNvPr id="204" name="Google Shape;204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519362"/>
            <a:ext cx="4572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2519362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2519362"/>
            <a:ext cx="4095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Coding Agent Differentiators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725" y="2505075"/>
            <a:ext cx="5495925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29350" y="2505075"/>
            <a:ext cx="5495925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75527" y="528637"/>
            <a:ext cx="1549747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 txBox="1"/>
          <p:nvPr/>
        </p:nvSpPr>
        <p:spPr>
          <a:xfrm>
            <a:off x="742950" y="2781300"/>
            <a:ext cx="519064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Prompt Engineering Fundamentals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6505575" y="2781300"/>
            <a:ext cx="519064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AI-Assisted Development Workflows</a:t>
            </a:r>
            <a:endParaRPr/>
          </a:p>
        </p:txBody>
      </p:sp>
      <p:pic>
        <p:nvPicPr>
          <p:cNvPr id="163" name="Google Shape;16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2950" y="2819400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 txBox="1"/>
          <p:nvPr/>
        </p:nvSpPr>
        <p:spPr>
          <a:xfrm>
            <a:off x="933450" y="3181350"/>
            <a:ext cx="475297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Prompt Structure: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Building rich context, defining roles, parameters, and operational constraints.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933450" y="3705225"/>
            <a:ext cx="475297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Engineering Best Practices: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Writing explicit instructions for code generation, explanation, and unit test creation.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933450" y="4229100"/>
            <a:ext cx="475297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Instruction Interpretation: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Understanding how LLMs parse technical specs and domain constraints.</a:t>
            </a:r>
            <a:endParaRPr/>
          </a:p>
        </p:txBody>
      </p:sp>
      <p:pic>
        <p:nvPicPr>
          <p:cNvPr id="167" name="Google Shape;16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05575" y="2819400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6"/>
          <p:cNvSpPr txBox="1"/>
          <p:nvPr/>
        </p:nvSpPr>
        <p:spPr>
          <a:xfrm>
            <a:off x="6696075" y="3181350"/>
            <a:ext cx="475297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Copilot Chat Integration: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Utilizing Chat interfaces for interactive architecture planning and code queries.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6696075" y="3705225"/>
            <a:ext cx="475297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Multi-Language Support: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Leveraging AI across Python scripts, C++ utilities, and SystemVerilog/UVM components.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6696075" y="4229100"/>
            <a:ext cx="475297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Automation Use Cases: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Boosting engineering throughput with automated boilerplate generation.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742950" y="3162300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742950" y="3686175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742950" y="4210050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6505575" y="3162300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6505575" y="3686175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6505575" y="4210050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466725" y="466725"/>
            <a:ext cx="112585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Prompt Engineering &amp; AI Workflows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76812" y="2345977"/>
            <a:ext cx="2238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920353" y="2907952"/>
            <a:ext cx="10351293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Why Prompt Engineering Works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047875" y="3768923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 Light"/>
                <a:ea typeface="Lato Light"/>
                <a:cs typeface="Lato Light"/>
                <a:sym typeface="Lato Light"/>
              </a:rPr>
              <a:t>Understanding LLMs as Continuous Probability Engines rather than Human-like Thinking Minds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57450"/>
            <a:ext cx="5324475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457450"/>
            <a:ext cx="5324475" cy="29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23925" y="2800350"/>
            <a:ext cx="487060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Why Prompting Works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23925" y="3248025"/>
            <a:ext cx="46386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Prompt engineering works because Large Language Models (LLMs) do not "think" in human concepts—they are continuous probability engines.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23925" y="4133850"/>
            <a:ext cx="46386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When you prompt an AI, you are not instructing a conscious mind; you are setting a mathematical starting line that shifts the probability distribution of every subsequent token.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29400" y="2800350"/>
            <a:ext cx="487060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Why Not Just Train It?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29400" y="3248025"/>
            <a:ext cx="46386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Training updates static model weights across vast datasets, establishing broad parametric capabilities.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29400" y="3876675"/>
            <a:ext cx="46386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However, static weights cannot anticipate dynamic context, specific constraints, or immediate intent. Prompt engineering dynamically steers existing weight configurations in real time.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81025" y="48577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Fundamental Question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81025" y="11430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00262"/>
            <a:ext cx="53244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81025" y="2100262"/>
            <a:ext cx="559069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Beyond Human Conceptualization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47725" y="2547937"/>
            <a:ext cx="50577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No Conscious Mind: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Models process text through numerical embeddings without explicit human comprehension.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47725" y="3214687"/>
            <a:ext cx="50577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Predictive Dynamics: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Generative outputs are computed token-by-token based on learned statistical associations.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47725" y="3881437"/>
            <a:ext cx="50577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Starting Line Effect: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Your input text immediately shapes the activation patterns across transformer layers.</a:t>
            </a:r>
            <a:endParaRPr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2109787"/>
            <a:ext cx="53054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81025" y="2547937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81025" y="3214687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81025" y="3881437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81025" y="48577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LLMs as Continuous Probability Engines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81025" y="11430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99692"/>
            <a:ext cx="11029950" cy="810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339107"/>
            <a:ext cx="3524250" cy="218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33875" y="3339107"/>
            <a:ext cx="3524250" cy="218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86725" y="3339107"/>
            <a:ext cx="3524250" cy="218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967013" y="2537817"/>
            <a:ext cx="4257972" cy="33456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876300" y="3634382"/>
            <a:ext cx="30803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Sequence Dependency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76300" y="4082057"/>
            <a:ext cx="29337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probability of predicting the next token depends entirely on the exact sequence of prior tokens.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629150" y="3634382"/>
            <a:ext cx="30803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Prompt Manipulation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629150" y="4082057"/>
            <a:ext cx="29337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By modifying prefix tokens , you alter the mathematical conditional probability curve.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382000" y="3634382"/>
            <a:ext cx="30803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Token-by-Token Shift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382000" y="4082057"/>
            <a:ext cx="29337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Every newly generated word recursively feeds into the context, reinforcing the trajectory set by the prompt.</a:t>
            </a:r>
            <a:endParaRPr/>
          </a:p>
        </p:txBody>
      </p:sp>
      <p:pic>
        <p:nvPicPr>
          <p:cNvPr id="135" name="Google Shape;135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23975" y="4405907"/>
            <a:ext cx="251370" cy="163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19875" y="4148732"/>
            <a:ext cx="769441" cy="16311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581025" y="48577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Mathematical Foundation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81025" y="11430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81025" y="485775"/>
            <a:ext cx="559069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Steering Probability Paths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81025" y="1143000"/>
            <a:ext cx="5324475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1025" y="1447800"/>
            <a:ext cx="559069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Collapsing Entropy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81025" y="1895475"/>
            <a:ext cx="5324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vague prompt results in high entropy, causing the model to sample from generic average paths.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81025" y="2524125"/>
            <a:ext cx="5324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Engineering precise context acts as a mathematical projection, suppressing unwanted noise and boosting relevant vector subspaces.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14600"/>
            <a:ext cx="3524250" cy="279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514600"/>
            <a:ext cx="3524250" cy="279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86725" y="2514600"/>
            <a:ext cx="3524250" cy="279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876300" y="3419475"/>
            <a:ext cx="30803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Role Assignment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876300" y="3867150"/>
            <a:ext cx="29337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Setting a persona shifts probability priors toward domain-specific terminology and structured reasoning patterns.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4629150" y="3419475"/>
            <a:ext cx="30803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Explicit Constraints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4629150" y="3867150"/>
            <a:ext cx="29337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Rules and negative constraints eliminate whole branches of high-variance, off-topic token continuations.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8382000" y="3419475"/>
            <a:ext cx="30803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Few-Shot Examples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8382000" y="3867150"/>
            <a:ext cx="29337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Providing formatted examples grounds output geometry, drastically reducing conditional entropy.</a:t>
            </a:r>
            <a:endParaRPr/>
          </a:p>
        </p:txBody>
      </p:sp>
      <p:pic>
        <p:nvPicPr>
          <p:cNvPr id="164" name="Google Shape;16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857500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29150" y="28575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82000" y="285750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581025" y="48577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How Prompts Shape the Distribution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581025" y="11430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1009650" y="3238500"/>
            <a:ext cx="106013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Applied Probability: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Prompting is not conversational art; it is the mathematical optimization of token likelihoods.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1009650" y="3686175"/>
            <a:ext cx="106013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Information Gain: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Every word in a prompt either increases information gain or leaves room for the model to guess incorrectly.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1009650" y="4133850"/>
            <a:ext cx="106013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Complementary Systems: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Training establishes broad model knowledge, while prompt engineering provides precise trajectory control.</a:t>
            </a:r>
            <a:endParaRPr/>
          </a:p>
        </p:txBody>
      </p:sp>
      <p:pic>
        <p:nvPicPr>
          <p:cNvPr id="211" name="Google Shape;21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262312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70998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157662"/>
            <a:ext cx="2381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581025" y="48577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Core Takeaways for Engineers</a:t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581025" y="11430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85775"/>
            <a:ext cx="1365762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883568"/>
            <a:ext cx="356235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14825" y="1883568"/>
            <a:ext cx="356235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48625" y="1883568"/>
            <a:ext cx="356235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864768"/>
            <a:ext cx="356235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14825" y="3864768"/>
            <a:ext cx="356235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48625" y="3864768"/>
            <a:ext cx="356235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5953125"/>
            <a:ext cx="1102995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7"/>
          <p:cNvSpPr txBox="1"/>
          <p:nvPr/>
        </p:nvSpPr>
        <p:spPr>
          <a:xfrm>
            <a:off x="581025" y="914400"/>
            <a:ext cx="11001375" cy="45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Prompt like you write a technical specification.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581025" y="6162675"/>
            <a:ext cx="10668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E76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PROMPT ANATOMY</a:t>
            </a:r>
            <a:endParaRPr/>
          </a:p>
        </p:txBody>
      </p:sp>
      <p:pic>
        <p:nvPicPr>
          <p:cNvPr id="201" name="Google Shape;201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3900" y="571500"/>
            <a:ext cx="135284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9150" y="2121693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7"/>
          <p:cNvSpPr txBox="1"/>
          <p:nvPr/>
        </p:nvSpPr>
        <p:spPr>
          <a:xfrm>
            <a:off x="819150" y="2693193"/>
            <a:ext cx="324040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6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Role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819150" y="3026568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Engineering perspective and reviewer expectations.</a:t>
            </a:r>
            <a:endParaRPr/>
          </a:p>
        </p:txBody>
      </p:sp>
      <p:pic>
        <p:nvPicPr>
          <p:cNvPr id="205" name="Google Shape;205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52950" y="2121693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7"/>
          <p:cNvSpPr txBox="1"/>
          <p:nvPr/>
        </p:nvSpPr>
        <p:spPr>
          <a:xfrm>
            <a:off x="4552950" y="2693193"/>
            <a:ext cx="324040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6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Context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4552950" y="3026568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Relevant files, logs, requirements, and system constraints.</a:t>
            </a:r>
            <a:endParaRPr/>
          </a:p>
        </p:txBody>
      </p:sp>
      <p:pic>
        <p:nvPicPr>
          <p:cNvPr id="208" name="Google Shape;208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286750" y="2121693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7"/>
          <p:cNvSpPr txBox="1"/>
          <p:nvPr/>
        </p:nvSpPr>
        <p:spPr>
          <a:xfrm>
            <a:off x="8286750" y="2693193"/>
            <a:ext cx="324040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6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Task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8286750" y="3026568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Exact action to take and clear boundary definitions.</a:t>
            </a:r>
            <a:endParaRPr/>
          </a:p>
        </p:txBody>
      </p:sp>
      <p:pic>
        <p:nvPicPr>
          <p:cNvPr id="211" name="Google Shape;211;p1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19150" y="4102893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7"/>
          <p:cNvSpPr txBox="1"/>
          <p:nvPr/>
        </p:nvSpPr>
        <p:spPr>
          <a:xfrm>
            <a:off x="819150" y="4674393"/>
            <a:ext cx="324040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6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Format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819150" y="5007768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Artifact type, JSON schema, or strict response shape.</a:t>
            </a:r>
            <a:endParaRPr/>
          </a:p>
        </p:txBody>
      </p:sp>
      <p:pic>
        <p:nvPicPr>
          <p:cNvPr id="214" name="Google Shape;214;p17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552950" y="4102893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7"/>
          <p:cNvSpPr txBox="1"/>
          <p:nvPr/>
        </p:nvSpPr>
        <p:spPr>
          <a:xfrm>
            <a:off x="4552950" y="4674393"/>
            <a:ext cx="324040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6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Verification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4552950" y="5007768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Tests, risks, assumptions, and acceptance criteria.</a:t>
            </a:r>
            <a:endParaRPr dirty="0"/>
          </a:p>
        </p:txBody>
      </p:sp>
      <p:pic>
        <p:nvPicPr>
          <p:cNvPr id="217" name="Google Shape;217;p17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286750" y="4102893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7"/>
          <p:cNvSpPr txBox="1"/>
          <p:nvPr/>
        </p:nvSpPr>
        <p:spPr>
          <a:xfrm>
            <a:off x="8286750" y="4674393"/>
            <a:ext cx="324040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6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Preview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8286750" y="5007768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Convert a vague human request into a deterministic engineering prompt.</a:t>
            </a:r>
            <a:endParaRPr/>
          </a:p>
        </p:txBody>
      </p:sp>
      <p:pic>
        <p:nvPicPr>
          <p:cNvPr id="220" name="Google Shape;220;p17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09637" y="2235993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7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676775" y="2235993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7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401050" y="223599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7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42975" y="4217193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7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4667250" y="421719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7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386762" y="4217193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0;p13">
            <a:extLst>
              <a:ext uri="{FF2B5EF4-FFF2-40B4-BE49-F238E27FC236}">
                <a16:creationId xmlns:a16="http://schemas.microsoft.com/office/drawing/2014/main" id="{7B7795B9-88B0-EDA9-9F60-845F3501AF71}"/>
              </a:ext>
            </a:extLst>
          </p:cNvPr>
          <p:cNvSpPr txBox="1"/>
          <p:nvPr/>
        </p:nvSpPr>
        <p:spPr>
          <a:xfrm>
            <a:off x="11071124" y="6219825"/>
            <a:ext cx="45228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 21</a:t>
            </a:r>
            <a:endParaRPr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997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4" y="485775"/>
            <a:ext cx="237848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838003"/>
            <a:ext cx="5400675" cy="2217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0300" y="2838003"/>
            <a:ext cx="5400675" cy="2217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5350" y="3609528"/>
            <a:ext cx="4772025" cy="1131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24625" y="3609528"/>
            <a:ext cx="4772025" cy="1131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1025" y="5953125"/>
            <a:ext cx="1102995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8"/>
          <p:cNvSpPr txBox="1"/>
          <p:nvPr/>
        </p:nvSpPr>
        <p:spPr>
          <a:xfrm>
            <a:off x="581025" y="914400"/>
            <a:ext cx="11001375" cy="45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Ambiguity transfers risk from prompt to output.</a:t>
            </a:r>
            <a:endParaRPr/>
          </a:p>
        </p:txBody>
      </p:sp>
      <p:sp>
        <p:nvSpPr>
          <p:cNvPr id="238" name="Google Shape;238;p18"/>
          <p:cNvSpPr txBox="1"/>
          <p:nvPr/>
        </p:nvSpPr>
        <p:spPr>
          <a:xfrm>
            <a:off x="581025" y="1462087"/>
            <a:ext cx="1102995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strong prompt narrows search scope and explicitly demands evidence.</a:t>
            </a:r>
            <a:endParaRPr/>
          </a:p>
        </p:txBody>
      </p:sp>
      <p:sp>
        <p:nvSpPr>
          <p:cNvPr id="239" name="Google Shape;239;p18"/>
          <p:cNvSpPr txBox="1"/>
          <p:nvPr/>
        </p:nvSpPr>
        <p:spPr>
          <a:xfrm>
            <a:off x="581025" y="6162675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E76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COMPARISON</a:t>
            </a:r>
            <a:endParaRPr/>
          </a:p>
        </p:txBody>
      </p:sp>
      <p:pic>
        <p:nvPicPr>
          <p:cNvPr id="241" name="Google Shape;241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23900" y="571500"/>
            <a:ext cx="163859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8"/>
          <p:cNvSpPr txBox="1"/>
          <p:nvPr/>
        </p:nvSpPr>
        <p:spPr>
          <a:xfrm>
            <a:off x="1219200" y="3152328"/>
            <a:ext cx="44481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51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Weak Prompt</a:t>
            </a:r>
            <a:endParaRPr/>
          </a:p>
        </p:txBody>
      </p:sp>
      <p:sp>
        <p:nvSpPr>
          <p:cNvPr id="243" name="Google Shape;243;p18"/>
          <p:cNvSpPr txBox="1"/>
          <p:nvPr/>
        </p:nvSpPr>
        <p:spPr>
          <a:xfrm>
            <a:off x="6848475" y="3152328"/>
            <a:ext cx="44481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FB95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Optimised Prompt</a:t>
            </a:r>
            <a:endParaRPr/>
          </a:p>
        </p:txBody>
      </p:sp>
      <p:pic>
        <p:nvPicPr>
          <p:cNvPr id="244" name="Google Shape;244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95350" y="3180903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524625" y="3180903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0;p13">
            <a:extLst>
              <a:ext uri="{FF2B5EF4-FFF2-40B4-BE49-F238E27FC236}">
                <a16:creationId xmlns:a16="http://schemas.microsoft.com/office/drawing/2014/main" id="{0EB7DD9F-976A-CBCB-E691-DC7D4D14D28B}"/>
              </a:ext>
            </a:extLst>
          </p:cNvPr>
          <p:cNvSpPr txBox="1"/>
          <p:nvPr/>
        </p:nvSpPr>
        <p:spPr>
          <a:xfrm>
            <a:off x="11071124" y="6219825"/>
            <a:ext cx="45228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 22</a:t>
            </a:r>
            <a:endParaRPr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85775"/>
            <a:ext cx="2113014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270224"/>
            <a:ext cx="3562350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14825" y="2270224"/>
            <a:ext cx="3562350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48625" y="2270224"/>
            <a:ext cx="3562350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032349"/>
            <a:ext cx="3562350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14825" y="4032349"/>
            <a:ext cx="3562350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48625" y="4032349"/>
            <a:ext cx="3562350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5953125"/>
            <a:ext cx="1102995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9"/>
          <p:cNvSpPr txBox="1"/>
          <p:nvPr/>
        </p:nvSpPr>
        <p:spPr>
          <a:xfrm>
            <a:off x="581025" y="914400"/>
            <a:ext cx="11001375" cy="45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Better context is not always more context.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581025" y="1462087"/>
            <a:ext cx="1102995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Prerequisite: tokens and model context windows efficiency.</a:t>
            </a:r>
            <a:endParaRPr/>
          </a:p>
        </p:txBody>
      </p:sp>
      <p:sp>
        <p:nvSpPr>
          <p:cNvPr id="261" name="Google Shape;261;p19"/>
          <p:cNvSpPr txBox="1"/>
          <p:nvPr/>
        </p:nvSpPr>
        <p:spPr>
          <a:xfrm>
            <a:off x="581025" y="6162675"/>
            <a:ext cx="1219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E76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COST AND CONTEXT</a:t>
            </a:r>
            <a:endParaRPr/>
          </a:p>
        </p:txBody>
      </p:sp>
      <p:pic>
        <p:nvPicPr>
          <p:cNvPr id="263" name="Google Shape;263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3900" y="571500"/>
            <a:ext cx="135284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9"/>
          <p:cNvSpPr txBox="1"/>
          <p:nvPr/>
        </p:nvSpPr>
        <p:spPr>
          <a:xfrm>
            <a:off x="819150" y="2860774"/>
            <a:ext cx="324040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6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Include</a:t>
            </a:r>
            <a:endParaRPr/>
          </a:p>
        </p:txBody>
      </p:sp>
      <p:sp>
        <p:nvSpPr>
          <p:cNvPr id="265" name="Google Shape;265;p19"/>
          <p:cNvSpPr txBox="1"/>
          <p:nvPr/>
        </p:nvSpPr>
        <p:spPr>
          <a:xfrm>
            <a:off x="819150" y="3194149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Relevant files, active selections, logs, requirements, API contracts.</a:t>
            </a:r>
            <a:endParaRPr/>
          </a:p>
        </p:txBody>
      </p:sp>
      <p:sp>
        <p:nvSpPr>
          <p:cNvPr id="266" name="Google Shape;266;p19"/>
          <p:cNvSpPr txBox="1"/>
          <p:nvPr/>
        </p:nvSpPr>
        <p:spPr>
          <a:xfrm>
            <a:off x="4552950" y="2860774"/>
            <a:ext cx="324040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6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Exclude</a:t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4552950" y="3194149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Unrelated files, stale chat history, secrets, irrelevant open tabs.</a:t>
            </a:r>
            <a:endParaRPr/>
          </a:p>
        </p:txBody>
      </p:sp>
      <p:sp>
        <p:nvSpPr>
          <p:cNvPr id="268" name="Google Shape;268;p19"/>
          <p:cNvSpPr txBox="1"/>
          <p:nvPr/>
        </p:nvSpPr>
        <p:spPr>
          <a:xfrm>
            <a:off x="8286750" y="2860774"/>
            <a:ext cx="324040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6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Restart</a:t>
            </a:r>
            <a:endParaRPr/>
          </a:p>
        </p:txBody>
      </p:sp>
      <p:sp>
        <p:nvSpPr>
          <p:cNvPr id="269" name="Google Shape;269;p19"/>
          <p:cNvSpPr txBox="1"/>
          <p:nvPr/>
        </p:nvSpPr>
        <p:spPr>
          <a:xfrm>
            <a:off x="8286750" y="3194149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Start fresh when stale context dominates the conversation thread.</a:t>
            </a:r>
            <a:endParaRPr/>
          </a:p>
        </p:txBody>
      </p:sp>
      <p:sp>
        <p:nvSpPr>
          <p:cNvPr id="270" name="Google Shape;270;p19"/>
          <p:cNvSpPr txBox="1"/>
          <p:nvPr/>
        </p:nvSpPr>
        <p:spPr>
          <a:xfrm>
            <a:off x="819150" y="4622899"/>
            <a:ext cx="324040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6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Keep Concise</a:t>
            </a:r>
            <a:endParaRPr/>
          </a:p>
        </p:txBody>
      </p:sp>
      <p:sp>
        <p:nvSpPr>
          <p:cNvPr id="271" name="Google Shape;271;p19"/>
          <p:cNvSpPr txBox="1"/>
          <p:nvPr/>
        </p:nvSpPr>
        <p:spPr>
          <a:xfrm>
            <a:off x="819150" y="4956274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Custom instructions and prompt files may be re-sent repeatedly.</a:t>
            </a:r>
            <a:endParaRPr/>
          </a:p>
        </p:txBody>
      </p:sp>
      <p:sp>
        <p:nvSpPr>
          <p:cNvPr id="272" name="Google Shape;272;p19"/>
          <p:cNvSpPr txBox="1"/>
          <p:nvPr/>
        </p:nvSpPr>
        <p:spPr>
          <a:xfrm>
            <a:off x="4552950" y="4622899"/>
            <a:ext cx="324040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6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Retrieve</a:t>
            </a:r>
            <a:endParaRPr/>
          </a:p>
        </p:txBody>
      </p:sp>
      <p:sp>
        <p:nvSpPr>
          <p:cNvPr id="273" name="Google Shape;273;p19"/>
          <p:cNvSpPr txBox="1"/>
          <p:nvPr/>
        </p:nvSpPr>
        <p:spPr>
          <a:xfrm>
            <a:off x="4552950" y="4956274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 RAG retrieval when knowledge base is too large or volatile.</a:t>
            </a:r>
            <a:endParaRPr/>
          </a:p>
        </p:txBody>
      </p:sp>
      <p:sp>
        <p:nvSpPr>
          <p:cNvPr id="274" name="Google Shape;274;p19"/>
          <p:cNvSpPr txBox="1"/>
          <p:nvPr/>
        </p:nvSpPr>
        <p:spPr>
          <a:xfrm>
            <a:off x="8286750" y="4622899"/>
            <a:ext cx="324040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6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Measure</a:t>
            </a:r>
            <a:endParaRPr/>
          </a:p>
        </p:txBody>
      </p:sp>
      <p:sp>
        <p:nvSpPr>
          <p:cNvPr id="275" name="Google Shape;275;p19"/>
          <p:cNvSpPr txBox="1"/>
          <p:nvPr/>
        </p:nvSpPr>
        <p:spPr>
          <a:xfrm>
            <a:off x="8286750" y="4956274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Review burden and context size directly impact output quality.</a:t>
            </a:r>
            <a:endParaRPr/>
          </a:p>
        </p:txBody>
      </p:sp>
      <p:pic>
        <p:nvPicPr>
          <p:cNvPr id="276" name="Google Shape;276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9150" y="2546449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52950" y="2546449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286750" y="2546449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9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19150" y="4308574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9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552950" y="4308574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9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286750" y="4308574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0;p13">
            <a:extLst>
              <a:ext uri="{FF2B5EF4-FFF2-40B4-BE49-F238E27FC236}">
                <a16:creationId xmlns:a16="http://schemas.microsoft.com/office/drawing/2014/main" id="{F2E1B080-AC9F-4C93-F165-8885A9D6A7C7}"/>
              </a:ext>
            </a:extLst>
          </p:cNvPr>
          <p:cNvSpPr txBox="1"/>
          <p:nvPr/>
        </p:nvSpPr>
        <p:spPr>
          <a:xfrm>
            <a:off x="11071124" y="6219825"/>
            <a:ext cx="45228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 23</a:t>
            </a:r>
            <a:endParaRPr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85775"/>
            <a:ext cx="2732446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883568"/>
            <a:ext cx="356235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14825" y="1883568"/>
            <a:ext cx="356235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48625" y="1883568"/>
            <a:ext cx="356235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864768"/>
            <a:ext cx="356235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14825" y="3864768"/>
            <a:ext cx="356235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48625" y="3864768"/>
            <a:ext cx="356235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5953125"/>
            <a:ext cx="1102995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0"/>
          <p:cNvSpPr txBox="1"/>
          <p:nvPr/>
        </p:nvSpPr>
        <p:spPr>
          <a:xfrm>
            <a:off x="581025" y="914400"/>
            <a:ext cx="11001375" cy="45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0F6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Reduce ambiguity and unnecessary search space.</a:t>
            </a:r>
            <a:endParaRPr/>
          </a:p>
        </p:txBody>
      </p:sp>
      <p:sp>
        <p:nvSpPr>
          <p:cNvPr id="296" name="Google Shape;296;p20"/>
          <p:cNvSpPr txBox="1"/>
          <p:nvPr/>
        </p:nvSpPr>
        <p:spPr>
          <a:xfrm>
            <a:off x="581025" y="6162675"/>
            <a:ext cx="10668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E76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BEST PRACTICES</a:t>
            </a:r>
            <a:endParaRPr/>
          </a:p>
        </p:txBody>
      </p:sp>
      <p:pic>
        <p:nvPicPr>
          <p:cNvPr id="298" name="Google Shape;298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3900" y="571500"/>
            <a:ext cx="135284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9150" y="2121693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0"/>
          <p:cNvSpPr txBox="1"/>
          <p:nvPr/>
        </p:nvSpPr>
        <p:spPr>
          <a:xfrm>
            <a:off x="819150" y="2693193"/>
            <a:ext cx="324040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6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Plan First</a:t>
            </a:r>
            <a:endParaRPr/>
          </a:p>
        </p:txBody>
      </p:sp>
      <p:sp>
        <p:nvSpPr>
          <p:cNvPr id="301" name="Google Shape;301;p20"/>
          <p:cNvSpPr txBox="1"/>
          <p:nvPr/>
        </p:nvSpPr>
        <p:spPr>
          <a:xfrm>
            <a:off x="819150" y="3026568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Ask model for step-by-step plan before making file modifications.</a:t>
            </a:r>
            <a:endParaRPr/>
          </a:p>
        </p:txBody>
      </p:sp>
      <p:pic>
        <p:nvPicPr>
          <p:cNvPr id="302" name="Google Shape;302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52950" y="2121693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0"/>
          <p:cNvSpPr txBox="1"/>
          <p:nvPr/>
        </p:nvSpPr>
        <p:spPr>
          <a:xfrm>
            <a:off x="4552950" y="2693193"/>
            <a:ext cx="324040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6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Minimal Change</a:t>
            </a:r>
            <a:endParaRPr/>
          </a:p>
        </p:txBody>
      </p:sp>
      <p:sp>
        <p:nvSpPr>
          <p:cNvPr id="304" name="Google Shape;304;p20"/>
          <p:cNvSpPr txBox="1"/>
          <p:nvPr/>
        </p:nvSpPr>
        <p:spPr>
          <a:xfrm>
            <a:off x="4552950" y="3026568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Limit edits strictly to target scope and affected files.</a:t>
            </a:r>
            <a:endParaRPr/>
          </a:p>
        </p:txBody>
      </p:sp>
      <p:pic>
        <p:nvPicPr>
          <p:cNvPr id="305" name="Google Shape;305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286750" y="2121693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0"/>
          <p:cNvSpPr txBox="1"/>
          <p:nvPr/>
        </p:nvSpPr>
        <p:spPr>
          <a:xfrm>
            <a:off x="8286750" y="2693193"/>
            <a:ext cx="324040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6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Assumptions</a:t>
            </a:r>
            <a:endParaRPr/>
          </a:p>
        </p:txBody>
      </p:sp>
      <p:sp>
        <p:nvSpPr>
          <p:cNvPr id="307" name="Google Shape;307;p20"/>
          <p:cNvSpPr txBox="1"/>
          <p:nvPr/>
        </p:nvSpPr>
        <p:spPr>
          <a:xfrm>
            <a:off x="8286750" y="3026568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Instruct model to state engineering assumptions explicitly upfront.</a:t>
            </a:r>
            <a:endParaRPr/>
          </a:p>
        </p:txBody>
      </p:sp>
      <p:pic>
        <p:nvPicPr>
          <p:cNvPr id="308" name="Google Shape;308;p2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19150" y="4102893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0"/>
          <p:cNvSpPr txBox="1"/>
          <p:nvPr/>
        </p:nvSpPr>
        <p:spPr>
          <a:xfrm>
            <a:off x="819150" y="4674393"/>
            <a:ext cx="324040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6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Expected Behavior</a:t>
            </a:r>
            <a:endParaRPr/>
          </a:p>
        </p:txBody>
      </p:sp>
      <p:sp>
        <p:nvSpPr>
          <p:cNvPr id="310" name="Google Shape;310;p20"/>
          <p:cNvSpPr txBox="1"/>
          <p:nvPr/>
        </p:nvSpPr>
        <p:spPr>
          <a:xfrm>
            <a:off x="819150" y="5007768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Define clear test pass criteria and validation steps prior to coding.</a:t>
            </a:r>
            <a:endParaRPr/>
          </a:p>
        </p:txBody>
      </p:sp>
      <p:pic>
        <p:nvPicPr>
          <p:cNvPr id="311" name="Google Shape;311;p20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552950" y="4102893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0"/>
          <p:cNvSpPr txBox="1"/>
          <p:nvPr/>
        </p:nvSpPr>
        <p:spPr>
          <a:xfrm>
            <a:off x="4552950" y="4674393"/>
            <a:ext cx="324040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6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Examples</a:t>
            </a:r>
            <a:endParaRPr/>
          </a:p>
        </p:txBody>
      </p:sp>
      <p:sp>
        <p:nvSpPr>
          <p:cNvPr id="313" name="Google Shape;313;p20"/>
          <p:cNvSpPr txBox="1"/>
          <p:nvPr/>
        </p:nvSpPr>
        <p:spPr>
          <a:xfrm>
            <a:off x="4552950" y="5007768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Provide input/output pairs when dealing with subtle edge cases.</a:t>
            </a:r>
            <a:endParaRPr/>
          </a:p>
        </p:txBody>
      </p:sp>
      <p:pic>
        <p:nvPicPr>
          <p:cNvPr id="314" name="Google Shape;314;p20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286750" y="4102893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0"/>
          <p:cNvSpPr txBox="1"/>
          <p:nvPr/>
        </p:nvSpPr>
        <p:spPr>
          <a:xfrm>
            <a:off x="8286750" y="4674393"/>
            <a:ext cx="324040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6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Risks</a:t>
            </a:r>
            <a:endParaRPr/>
          </a:p>
        </p:txBody>
      </p:sp>
      <p:sp>
        <p:nvSpPr>
          <p:cNvPr id="316" name="Google Shape;316;p20"/>
          <p:cNvSpPr txBox="1"/>
          <p:nvPr/>
        </p:nvSpPr>
        <p:spPr>
          <a:xfrm>
            <a:off x="8286750" y="5007768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8B94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Explicitly prompt for potential failure modes and security risks.</a:t>
            </a:r>
            <a:endParaRPr/>
          </a:p>
        </p:txBody>
      </p:sp>
      <p:pic>
        <p:nvPicPr>
          <p:cNvPr id="317" name="Google Shape;317;p20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33450" y="223599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0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667250" y="223599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0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424862" y="2235993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0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33450" y="421719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0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4667250" y="421719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0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401050" y="4217193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0;p13">
            <a:extLst>
              <a:ext uri="{FF2B5EF4-FFF2-40B4-BE49-F238E27FC236}">
                <a16:creationId xmlns:a16="http://schemas.microsoft.com/office/drawing/2014/main" id="{D93F39EA-1205-12F4-4A6C-9432EBBEFD8A}"/>
              </a:ext>
            </a:extLst>
          </p:cNvPr>
          <p:cNvSpPr txBox="1"/>
          <p:nvPr/>
        </p:nvSpPr>
        <p:spPr>
          <a:xfrm>
            <a:off x="11071124" y="6219825"/>
            <a:ext cx="45228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 24</a:t>
            </a:r>
            <a:endParaRPr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2968" y="2365027"/>
            <a:ext cx="2786062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27804" y="2888902"/>
            <a:ext cx="11136391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Core Causes of LLM Hallucinations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3749873"/>
            <a:ext cx="8572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 Light"/>
                <a:ea typeface="Lato Light"/>
                <a:cs typeface="Lato Light"/>
                <a:sym typeface="Lato Light"/>
              </a:rPr>
              <a:t>A technical breakdown of probabilistic prediction errors, data gaps, training objectives, and structural limitations in modern AI models.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510426" y="2971800"/>
            <a:ext cx="9171146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Mechanisms of Generative Error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3148012" y="3971925"/>
            <a:ext cx="58959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 Light"/>
                <a:ea typeface="Lato Light"/>
                <a:cs typeface="Lato Light"/>
                <a:sym typeface="Lato Light"/>
              </a:rPr>
              <a:t>Why perfectly fluent neural networks produce plausible falsehoods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90825"/>
            <a:ext cx="5324475" cy="221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790825"/>
            <a:ext cx="5324475" cy="22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895350" y="3105150"/>
            <a:ext cx="493061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Parametric vs. Non-Parametric Limits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95350" y="3552825"/>
            <a:ext cx="46958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LLMs rely on static weights learned during training rather than direct database lookups. When generating content, they synthesize patterns rather than retrieving verified facts, making truthfulness secondary to linguistic fluency.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600825" y="3105150"/>
            <a:ext cx="493061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Objective &amp; Dataset Mismatch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600825" y="3552825"/>
            <a:ext cx="46958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Training objectives maximize the probability of text sequences rather than real-world truth. Web-scale pretraining datasets contain noise, conflicting facts, and outdated knowledge that inevitably surface during inference.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Causes Overview &amp; Taxonomy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90737"/>
            <a:ext cx="53244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847725" y="2090737"/>
            <a:ext cx="50577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Likelihood Over Correctness: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Models select words based strictly on statistical likelihood, not semantic truth.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847725" y="2757487"/>
            <a:ext cx="50577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Plausible Flow: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Next-token prediction prioritizes fluent grammar and context fit over real-world accuracy.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847725" y="3424237"/>
            <a:ext cx="50577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No Internal Verifier: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autoregressive transformer has no built-in fact-checking engine during sampling.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847725" y="4090987"/>
            <a:ext cx="50577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Confidence Illusion: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High probabilistic confidence for a token sequence does not equate to factual truth.</a:t>
            </a:r>
            <a:endParaRPr/>
          </a:p>
        </p:txBody>
      </p:sp>
      <p:pic>
        <p:nvPicPr>
          <p:cNvPr id="118" name="Google Shape;11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2100262"/>
            <a:ext cx="53054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657225" y="2052637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57225" y="2719387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57225" y="3386137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57225" y="4052887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Probabilistic Next-Token Prediction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581025" y="485775"/>
            <a:ext cx="554069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Training Data Gaps &amp; Noise</a:t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581025" y="1123950"/>
            <a:ext cx="52768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581025" y="1428750"/>
            <a:ext cx="554069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Corpora Voids &amp; Knowledge Gaps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581025" y="1876425"/>
            <a:ext cx="5276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Missing, outdated, or biased information in web-scale corpora creates severe factual voids in parametric memory.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81025" y="2577405"/>
            <a:ext cx="52768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When queried on rare or unrepresented topics, language models fail gracefully and instead extrapolate plausible yet entirely fabricated details to complete the sequence.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38400"/>
            <a:ext cx="352425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438400"/>
            <a:ext cx="352425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86725" y="2438400"/>
            <a:ext cx="352425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2714625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857250" y="3495675"/>
            <a:ext cx="257032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Teacher Forcing Gap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857250" y="3943350"/>
            <a:ext cx="29718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Models are trained on ground-truth sequences but generate text autoregressively during inference using their own previous tokens.</a:t>
            </a:r>
            <a:endParaRPr/>
          </a:p>
        </p:txBody>
      </p:sp>
      <p:pic>
        <p:nvPicPr>
          <p:cNvPr id="147" name="Google Shape;147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0100" y="2714625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4610100" y="3495675"/>
            <a:ext cx="243030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Error Compounding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4610100" y="3943350"/>
            <a:ext cx="29718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single minor mistake early in generation forces the model to invent subsequent details to keep the story internally consistent.</a:t>
            </a:r>
            <a:endParaRPr/>
          </a:p>
        </p:txBody>
      </p:sp>
      <p:pic>
        <p:nvPicPr>
          <p:cNvPr id="150" name="Google Shape;150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62950" y="2714625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8362950" y="3495675"/>
            <a:ext cx="221027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Contextual Decay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8362950" y="3943350"/>
            <a:ext cx="29718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As generation length grows, attention weights dilute, causing the model to drift from key prompt constraints.</a:t>
            </a:r>
            <a:endParaRPr/>
          </a:p>
        </p:txBody>
      </p:sp>
      <p:pic>
        <p:nvPicPr>
          <p:cNvPr id="153" name="Google Shape;153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47737" y="2847975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62500" y="2847975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515350" y="2847975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Exposure Bias &amp; Error Drift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90737"/>
            <a:ext cx="53244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847725" y="2090737"/>
            <a:ext cx="50577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Isolated Context: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Standalone LLMs generate responses without real-time database verification.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847725" y="2757487"/>
            <a:ext cx="50577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Static Knowledge Boundary: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Facts are frozen at training time, causing errors on recent events.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847725" y="3424237"/>
            <a:ext cx="50577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Missing Provenance: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Weights store associations, not citations, preventing live source checking.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847725" y="4090987"/>
            <a:ext cx="50577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Solution via RAG: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Grounding requires dynamic retrieval-augmented generation to enforce truth.</a:t>
            </a:r>
            <a:endParaRPr/>
          </a:p>
        </p:txBody>
      </p:sp>
      <p:pic>
        <p:nvPicPr>
          <p:cNvPr id="168" name="Google Shape;16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2100262"/>
            <a:ext cx="53054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657225" y="2052637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57225" y="2719387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57225" y="3386137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57225" y="4052887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Lack of Real-Time Grounding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2" name="Google Shape;202;p22"/>
          <p:cNvGraphicFramePr/>
          <p:nvPr/>
        </p:nvGraphicFramePr>
        <p:xfrm>
          <a:off x="581025" y="2257425"/>
          <a:ext cx="11029950" cy="328607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97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0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7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Root Cause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Underlying Mechanism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Primary Symptom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Mitigation Strategy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Next-Token Sampling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Softmax probability matching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Plausible yet untrue facts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Constrained decoding &amp; temperature control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Training Data Gaps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Sparse dataset representation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Fabricated citations &amp; names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Corpora curation &amp; deduplication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Exposure Bias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Error compounding in decoding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Snowballing narrative errors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Scheduled sampling &amp; reflection loops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Lack of Grounding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Pure parametric memory usage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Outdated or unverified claims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Retrieval-Augmented Generation (RAG)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Over-optimization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RLHF reward for helpfulness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Overconfident guessing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Honesty-focused alignment tuning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3" name="Google Shape;203;p22"/>
          <p:cNvSpPr/>
          <p:nvPr/>
        </p:nvSpPr>
        <p:spPr>
          <a:xfrm>
            <a:off x="581025" y="2814637"/>
            <a:ext cx="197643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2557462" y="2814637"/>
            <a:ext cx="274141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5298876" y="2814637"/>
            <a:ext cx="260330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7902178" y="2814637"/>
            <a:ext cx="37087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581025" y="3357562"/>
            <a:ext cx="197643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2557462" y="3357562"/>
            <a:ext cx="274141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5298876" y="3357562"/>
            <a:ext cx="260330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7902178" y="3357562"/>
            <a:ext cx="37087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581025" y="3900487"/>
            <a:ext cx="197643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2557462" y="3900487"/>
            <a:ext cx="274141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5298876" y="3900487"/>
            <a:ext cx="260330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7902178" y="3900487"/>
            <a:ext cx="37087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581025" y="4443412"/>
            <a:ext cx="197643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2557462" y="4443412"/>
            <a:ext cx="274141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5298876" y="4443412"/>
            <a:ext cx="260330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7902178" y="4443412"/>
            <a:ext cx="37087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581025" y="4986337"/>
            <a:ext cx="197643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2557462" y="4986337"/>
            <a:ext cx="274141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5298876" y="4986337"/>
            <a:ext cx="260330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7902178" y="4986337"/>
            <a:ext cx="37087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581025" y="5529262"/>
            <a:ext cx="197643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2557462" y="5529262"/>
            <a:ext cx="274141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5298876" y="5529262"/>
            <a:ext cx="260330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7902178" y="5529262"/>
            <a:ext cx="37087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Hallucination Causes &amp; Fix Matrix</a:t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186237"/>
            <a:ext cx="2536775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12033" y="2538412"/>
            <a:ext cx="2536775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43042" y="4186237"/>
            <a:ext cx="2536775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4050" y="2281237"/>
            <a:ext cx="2536775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/>
          <p:nvPr/>
        </p:nvSpPr>
        <p:spPr>
          <a:xfrm>
            <a:off x="581025" y="3881437"/>
            <a:ext cx="11029950" cy="38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707629" y="4367212"/>
            <a:ext cx="2283566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2020 - Unconstrained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762000" y="4681537"/>
            <a:ext cx="21748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Pure parametric generation with high hallucination risk.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3538637" y="2719387"/>
            <a:ext cx="2283566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2022 - Basic RAG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3593008" y="3033712"/>
            <a:ext cx="21748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Static vector databases added for context injection.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6369646" y="4367212"/>
            <a:ext cx="2283566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2024 - Agentic Verification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6424017" y="4938712"/>
            <a:ext cx="21748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Multi-step search, self-correction, and citation verification.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9200655" y="2462212"/>
            <a:ext cx="2283566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Future - Fact-Gated LLMs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9255025" y="3033712"/>
            <a:ext cx="21748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Real-time knowledge graph constraint layers in decoding.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Evolution of Grounding Solutions</a:t>
            </a:r>
            <a:endParaRPr/>
          </a:p>
        </p:txBody>
      </p:sp>
      <p:sp>
        <p:nvSpPr>
          <p:cNvPr id="248" name="Google Shape;248;p23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1754162" y="38052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1329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4585171" y="38052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1329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7416179" y="38052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1329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10247188" y="38052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1329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0351" y="2087015"/>
            <a:ext cx="33623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71525" y="2668041"/>
            <a:ext cx="11381422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Catastrophic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Forgetting in AI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71525" y="4199483"/>
            <a:ext cx="8096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Why neural networks forget prior skills when learning new tasks, and the engineering strategies designed to solve it.</a:t>
            </a:r>
            <a:endParaRPr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2191791"/>
            <a:ext cx="147637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1765459" y="1329506"/>
            <a:ext cx="8661082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is Catastrophic Forgetting?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2047875" y="3643159"/>
            <a:ext cx="8096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 essential challenge in fine-tuning and continual learning where artificial neural networks abruptly lose previously acquired knowledge.</a:t>
            </a:r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600" y="2000250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81025" y="2360414"/>
            <a:ext cx="555069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Studying Math vs. History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81025" y="2760464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Imagine a student who spends all week mastering </a:t>
            </a: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advanced algebra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Afterward, they spend a single afternoon studying </a:t>
            </a: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world history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81025" y="3735734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Upon taking a test, the student suddenly has complete amnesia regarding basic algebra formulas.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81025" y="4436715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 AI, this happens when a model fine-tuned for a specialized new task abruptly drops performance on general tasks it previously handled with ease.</a:t>
            </a:r>
            <a:endParaRPr/>
          </a:p>
        </p:txBody>
      </p:sp>
      <p:pic>
        <p:nvPicPr>
          <p:cNvPr id="106" name="Google Shape;10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09775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Student Analogy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81025" y="9144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581025" y="485775"/>
            <a:ext cx="559069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Shared "Brain Cells"</a:t>
            </a:r>
            <a:endParaRPr/>
          </a:p>
        </p:txBody>
      </p:sp>
      <p:pic>
        <p:nvPicPr>
          <p:cNvPr id="115" name="Google Shape;11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9525"/>
            <a:ext cx="58959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/>
          <p:nvPr/>
        </p:nvSpPr>
        <p:spPr>
          <a:xfrm>
            <a:off x="581025" y="9144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581025" y="2720429"/>
            <a:ext cx="559069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 Memory Pool for Everything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81025" y="3120479"/>
            <a:ext cx="53244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Human Cognition: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brain allocates specialized neural circuits and regional memory structures (like the hippocampus) to isolate different skills.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581025" y="4095750"/>
            <a:ext cx="53244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Artificial AI: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Uses a single shared matrix of digital connections (weights) for every task. Learning Task B literally rewrites over the numerical values needed for Task A.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600" y="2000101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961257"/>
            <a:ext cx="12096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581025" y="2294632"/>
            <a:ext cx="555069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Flexibility vs. Preservation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581025" y="2694682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Neural networks suffer from an inherent architectural compromise between learning new data and retaining old patterns: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581025" y="5110013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Standard gradient descent heavily favors plasticity, erasing old representations to minimize loss on new inputs.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847725" y="3669952"/>
            <a:ext cx="50196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Plasticity (Flexibility):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model's ability to adjust weights rapidly to master new tasks.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847725" y="4389983"/>
            <a:ext cx="50196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Stability (Preservation):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model's ability to keep old parameters safe and memory intact.</a:t>
            </a:r>
            <a:endParaRPr/>
          </a:p>
        </p:txBody>
      </p:sp>
      <p:pic>
        <p:nvPicPr>
          <p:cNvPr id="132" name="Google Shape;13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2009626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657225" y="3612802"/>
            <a:ext cx="1524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57225" y="4332833"/>
            <a:ext cx="1524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Stability vs. Plasticity</a:t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581025" y="9144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57425"/>
            <a:ext cx="3498800" cy="310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6525" y="2257425"/>
            <a:ext cx="3498800" cy="310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12025" y="2257425"/>
            <a:ext cx="3498800" cy="310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5350" y="2571750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895350" y="3276600"/>
            <a:ext cx="139017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LoRA / PEFT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895350" y="3676650"/>
            <a:ext cx="287015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Freeze the core pretrained model weights completely. Inject small trainable rank matrices (adapters) so foundational knowledge stays physically protected.</a:t>
            </a:r>
            <a:endParaRPr/>
          </a:p>
        </p:txBody>
      </p:sp>
      <p:pic>
        <p:nvPicPr>
          <p:cNvPr id="170" name="Google Shape;170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60850" y="2571750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4660850" y="3276600"/>
            <a:ext cx="174021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Rehearsal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4660850" y="3676650"/>
            <a:ext cx="287015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Mix 5%–20% of original pre-training or general dataset samples into the fine-tuning pipeline to anchor the gradient updates.</a:t>
            </a:r>
            <a:endParaRPr/>
          </a:p>
        </p:txBody>
      </p:sp>
      <p:pic>
        <p:nvPicPr>
          <p:cNvPr id="173" name="Google Shape;173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6350" y="2571750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8426350" y="3276600"/>
            <a:ext cx="196024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Weight Penalties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8426350" y="3676650"/>
            <a:ext cx="287015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Methods like Elastic Weight Consolidation (EWC) calculate weight importance for prior tasks and penalize updates to key parameters.</a:t>
            </a:r>
            <a:endParaRPr/>
          </a:p>
        </p:txBody>
      </p:sp>
      <p:pic>
        <p:nvPicPr>
          <p:cNvPr id="176" name="Google Shape;176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23937" y="271462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03725" y="27146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554938" y="271462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How Engineers Solve It</a:t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581025" y="9144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08969"/>
            <a:ext cx="5286375" cy="2202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4600" y="2708969"/>
            <a:ext cx="5286375" cy="220206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933450" y="3061394"/>
            <a:ext cx="481060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Root Cause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933450" y="3461444"/>
            <a:ext cx="4581525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Neural networks do not have an inherent bias toward preserving un-optimized skills. Standard optimization shifts weights freely toward the target task's local minimum, overwriting unconstrained directions.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677025" y="3061394"/>
            <a:ext cx="481060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Best Practice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6677025" y="3461444"/>
            <a:ext cx="4581525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Always default to Parameter-Efficient Fine-Tuning (LoRA) or Data Rehearsal for production deployment. Full fine-tuning without prior data mixing is almost guaranteed to cause catastrophic forgetting.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Architectural Takeaways</a:t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581025" y="9144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05375" y="2316658"/>
            <a:ext cx="23812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475547" y="2840533"/>
            <a:ext cx="7240905" cy="74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Context Hygiene in AI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047875" y="3871019"/>
            <a:ext cx="8096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Why keeping your prompt context clean, compact, and noise-free is critical for LLM accuracy and performance</a:t>
            </a:r>
            <a:endParaRPr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86350" y="2402383"/>
            <a:ext cx="142875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2270521" y="2860476"/>
            <a:ext cx="765095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Attention Mechanic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2047875" y="3822501"/>
            <a:ext cx="8096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How prompt length and irrelevant data degrade the reasoning capabilities of Large Language Models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04169"/>
            <a:ext cx="3498800" cy="3011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6525" y="2404169"/>
            <a:ext cx="3498800" cy="3011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12025" y="2404169"/>
            <a:ext cx="3498800" cy="3011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5350" y="2718494"/>
            <a:ext cx="64770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895350" y="3556694"/>
            <a:ext cx="213026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Attention Dilution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95350" y="4004369"/>
            <a:ext cx="28701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"Too Many Voices" effect. The model's fixed attention budget gets spread thin across thousands of irrelevant background tokens.</a:t>
            </a:r>
            <a:endParaRPr/>
          </a:p>
        </p:txBody>
      </p:sp>
      <p:pic>
        <p:nvPicPr>
          <p:cNvPr id="107" name="Google Shape;10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60850" y="2718494"/>
            <a:ext cx="64770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4660850" y="3556694"/>
            <a:ext cx="154019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Position Bias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4660850" y="4004369"/>
            <a:ext cx="28701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"Lost in the Middle" syndrome. Information placed in mid-context zones suffers up to 50% drop in retrieval accuracy.</a:t>
            </a:r>
            <a:endParaRPr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6350" y="2718494"/>
            <a:ext cx="64770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8426350" y="3556694"/>
            <a:ext cx="239029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Signal Degradation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426350" y="4004369"/>
            <a:ext cx="28701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High noise-to-signal ratios increase hallucinations, ignore system instructions, and waste expensive compute tokens.</a:t>
            </a:r>
            <a:endParaRPr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90600" y="2861369"/>
            <a:ext cx="4572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79912" y="2861369"/>
            <a:ext cx="40957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569225" y="2861369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81025" y="48577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Core Causes of Context Failure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581025" y="11430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581025" y="485775"/>
            <a:ext cx="5590698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/1. The "Too Many Voices" Effect</a:t>
            </a:r>
            <a:endParaRPr dirty="0"/>
          </a:p>
        </p:txBody>
      </p:sp>
      <p:sp>
        <p:nvSpPr>
          <p:cNvPr id="124" name="Google Shape;124;p16"/>
          <p:cNvSpPr/>
          <p:nvPr/>
        </p:nvSpPr>
        <p:spPr>
          <a:xfrm>
            <a:off x="581025" y="1685925"/>
            <a:ext cx="5324475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9525"/>
            <a:ext cx="58959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581025" y="2650926"/>
            <a:ext cx="559069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Understanding Attention Dilution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81025" y="3098601"/>
            <a:ext cx="53244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 AI model possesses a finite amount of "attention budget" (focus juice) to distribute across the entire prompt context window.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81025" y="4092922"/>
            <a:ext cx="53244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When the context window is bloated with irrelevant logs, past chatter, or redundant documents, the AI is forced to spread its focus paper-thin.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81025" y="5087242"/>
            <a:ext cx="53244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Even if key instructions are present, their signal gets overwhelmed by background static.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85169"/>
            <a:ext cx="5324475" cy="2249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785169"/>
            <a:ext cx="5324475" cy="224968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933450" y="3137594"/>
            <a:ext cx="485060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Small Context (Coffee Shop)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933450" y="3585269"/>
            <a:ext cx="46196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When context is small and tightly curated, the room is quiet. The AI easily hears your friend whisper from across the room with crisp clarity and high accuracy.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6638925" y="3137594"/>
            <a:ext cx="485060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43F5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Bloated Context (Stadium)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638925" y="3585269"/>
            <a:ext cx="4619625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When context grows massive and noisy, focus is distributed across thousands of random conversations. Your friend's whisper gets drowned out by background static.</a:t>
            </a:r>
            <a:endParaRPr/>
          </a:p>
        </p:txBody>
      </p:sp>
      <p:pic>
        <p:nvPicPr>
          <p:cNvPr id="141" name="Google Shape;14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3450" y="3185219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38925" y="3185219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81025" y="48577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 Acoustic Analogy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581025" y="11430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95512"/>
            <a:ext cx="5324475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847725" y="2370832"/>
            <a:ext cx="50577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Primacy Effect: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Information at the start (0–10%) acts as a strong anchor due to initial positional encodings.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847725" y="3071812"/>
            <a:ext cx="50577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Recency Effect: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Information at the end (90–100%) remains fresh right before token generation.</a:t>
            </a:r>
            <a:endParaRPr dirty="0"/>
          </a:p>
        </p:txBody>
      </p:sp>
      <p:sp>
        <p:nvSpPr>
          <p:cNvPr id="153" name="Google Shape;153;p18"/>
          <p:cNvSpPr txBox="1"/>
          <p:nvPr/>
        </p:nvSpPr>
        <p:spPr>
          <a:xfrm>
            <a:off x="847725" y="3772792"/>
            <a:ext cx="50577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Middle Blind Spot: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Tokens located midway (40–60%) receive significantly lower attention weight.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847725" y="4473773"/>
            <a:ext cx="50577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Textbook Trap: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Like reading a 100-page book in one sitting, the first and last chapters stick, but the middle becomes a blur.</a:t>
            </a:r>
            <a:endParaRPr/>
          </a:p>
        </p:txBody>
      </p:sp>
      <p:pic>
        <p:nvPicPr>
          <p:cNvPr id="155" name="Google Shape;15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2205037"/>
            <a:ext cx="5305425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657225" y="2351782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57225" y="3052762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57225" y="3753742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57225" y="4454723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581025" y="485775"/>
            <a:ext cx="1158144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/2. The "Lost in the Middle" Sandwich</a:t>
            </a:r>
            <a:endParaRPr dirty="0"/>
          </a:p>
        </p:txBody>
      </p:sp>
      <p:sp>
        <p:nvSpPr>
          <p:cNvPr id="161" name="Google Shape;161;p18"/>
          <p:cNvSpPr/>
          <p:nvPr/>
        </p:nvSpPr>
        <p:spPr>
          <a:xfrm>
            <a:off x="581025" y="11430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1762125" y="2515790"/>
            <a:ext cx="90963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Anchor at Boundaries: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Place critical system constraints, output schemas, and rules at the very start or end of the prompt.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1762125" y="3285232"/>
            <a:ext cx="90963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Surgical Pruning: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Ruthlessly trim non-essential conversation history, weak RAG chunks, and repeated metadata.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1762125" y="4054673"/>
            <a:ext cx="90963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Compress &amp; Summarize: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Convert long middle documentation into bullet summaries before feeding into the LLM.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1762125" y="4824114"/>
            <a:ext cx="90963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Progressive Disclosure: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Supply only the minimum viable context needed for the immediate sub-task.</a:t>
            </a:r>
            <a:endParaRPr/>
          </a:p>
        </p:txBody>
      </p:sp>
      <p:pic>
        <p:nvPicPr>
          <p:cNvPr id="192" name="Google Shape;19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54912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331856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408801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33500" y="4857452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581025" y="48577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Context Engineering Best Practices</a:t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581025" y="11430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 txBox="1"/>
          <p:nvPr/>
        </p:nvSpPr>
        <p:spPr>
          <a:xfrm>
            <a:off x="2450544" y="2226915"/>
            <a:ext cx="7290911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Keep Context Clean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3128962" y="3408015"/>
            <a:ext cx="59340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Minimize Noise • Maximize Signal • Control Placement</a:t>
            </a:r>
            <a:endParaRPr/>
          </a:p>
        </p:txBody>
      </p:sp>
      <p:pic>
        <p:nvPicPr>
          <p:cNvPr id="206" name="Google Shape;20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66755" y="3583185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44191"/>
            <a:ext cx="2745134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81025" y="2868066"/>
            <a:ext cx="11581447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Needle-in-a-Haystack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3729037"/>
            <a:ext cx="857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Benchmarking long-context retrieval capabilities, depth accuracy, and context window limits in modern large language models.</a:t>
            </a:r>
            <a:endParaRPr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2950" y="2429916"/>
            <a:ext cx="140047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5715000" y="2609850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306623" y="2876550"/>
            <a:ext cx="7578603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Foundations of Long Context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2524125" y="3733800"/>
            <a:ext cx="7143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Understanding how language models search, retrieve, and recall precise facts across hundreds of pages of textual content.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09850"/>
            <a:ext cx="5324475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609850"/>
            <a:ext cx="5324475" cy="25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933450" y="2962275"/>
            <a:ext cx="485060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6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"Haystack" (Context)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33450" y="3362325"/>
            <a:ext cx="4619625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continuous, coherent text background spanning tens or hundreds of pages (1,000 to 1,000,000+ tokens). The context consists of realistic documents such as novels, non-fiction books, technical documentations, or transcripts.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638925" y="2962275"/>
            <a:ext cx="485060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4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"Needle" (Target Fact)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638925" y="3362325"/>
            <a:ext cx="4619625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distinct, completely isolated piece of information or keyword intentionally embedded at a specific position inside the haystack. The model is then prompted with a specific query that requires retrieving this exact statement.</a:t>
            </a:r>
            <a:endParaRPr/>
          </a:p>
        </p:txBody>
      </p:sp>
      <p:pic>
        <p:nvPicPr>
          <p:cNvPr id="108" name="Google Shape;10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3450" y="3000375"/>
            <a:ext cx="16698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38925" y="3000375"/>
            <a:ext cx="22413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81025" y="48577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is the NIAH Benchmark?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81025" y="10287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52637"/>
            <a:ext cx="53244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676275" y="20526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771525" y="2052637"/>
            <a:ext cx="51339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Fact Embedding: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Inserting a targeted statement (e.g., </a:t>
            </a:r>
            <a:r>
              <a:rPr lang="en-US" sz="135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"The secret ingredient for the pizza is figs"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 at precise depth percentages (0% to 100%).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76275" y="29384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771525" y="2938462"/>
            <a:ext cx="51339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Incremental Scaling: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Systematically increasing the total document length from 1K tokens up to the model's theoretical limit.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76275" y="382428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771525" y="3824287"/>
            <a:ext cx="51339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Grid Evaluation: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Testing every combination of context length vs. insertion depth to build a comprehensive recall matrix.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76275" y="44529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771525" y="4452937"/>
            <a:ext cx="51339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Automated Judgment: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Using exact matching or LLM-as-a-judge to evaluate retrieval precision and correctness.</a:t>
            </a:r>
            <a:endParaRPr/>
          </a:p>
        </p:txBody>
      </p:sp>
      <p:pic>
        <p:nvPicPr>
          <p:cNvPr id="126" name="Google Shape;12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2062162"/>
            <a:ext cx="53054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81025" y="48577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Anatomy of the NIAH Test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581025" y="10287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28912"/>
            <a:ext cx="5324475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3119437"/>
            <a:ext cx="4543425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971550" y="4357687"/>
            <a:ext cx="45434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Token Context Length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286500" y="3090862"/>
            <a:ext cx="559069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Stress-Testing Model Memory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6286500" y="3490912"/>
            <a:ext cx="532447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standard 100-page document contains approximately 40,000 to 50,000 words. Pushing LLMs beyond 100k to 1M+ tokens assesses whether expanded context windows provide true operational recall or merely theoretical capacity.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81025" y="48577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Evaluating 100+ Page Contexts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581025" y="10287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47900"/>
            <a:ext cx="349880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6525" y="2247900"/>
            <a:ext cx="349880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12025" y="2247900"/>
            <a:ext cx="349880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5350" y="2562225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895350" y="3362325"/>
            <a:ext cx="301365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Attention Dilution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895350" y="3762375"/>
            <a:ext cx="287015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As the token count increases, soft-attention mechanisms disperse weight over vast token sequences, causing crucial facts to lose saliency.</a:t>
            </a:r>
            <a:endParaRPr/>
          </a:p>
        </p:txBody>
      </p:sp>
      <p:pic>
        <p:nvPicPr>
          <p:cNvPr id="152" name="Google Shape;152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60850" y="2562225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4660850" y="3362325"/>
            <a:ext cx="301365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Lost in the Middle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4660850" y="3762375"/>
            <a:ext cx="287015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LLMs naturally attend heavily to information placed at the very beginning (primacy) or end (recency) of prompts, frequently missing needles in the middle.</a:t>
            </a:r>
            <a:endParaRPr/>
          </a:p>
        </p:txBody>
      </p:sp>
      <p:pic>
        <p:nvPicPr>
          <p:cNvPr id="155" name="Google Shape;155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6350" y="2562225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8426350" y="3362325"/>
            <a:ext cx="301365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Prompt Sensitivity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8426350" y="3762375"/>
            <a:ext cx="287015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Minor variations in system prompts or query phrasing can cause dramatic swings in retrieval precision across different document depths.</a:t>
            </a:r>
            <a:endParaRPr/>
          </a:p>
        </p:txBody>
      </p:sp>
      <p:pic>
        <p:nvPicPr>
          <p:cNvPr id="158" name="Google Shape;158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28700" y="269557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13250" y="2695575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559700" y="2695575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581025" y="48577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Traditional Context Fails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81025" y="10287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/>
          <p:nvPr/>
        </p:nvSpPr>
        <p:spPr>
          <a:xfrm>
            <a:off x="581025" y="1728787"/>
            <a:ext cx="11029950" cy="914400"/>
          </a:xfrm>
          <a:prstGeom prst="roundRect">
            <a:avLst>
              <a:gd name="adj" fmla="val 10416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1152525" y="1919287"/>
            <a:ext cx="102298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Legal Discovery: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Searching through thousands of trial transcripts or contracts for specific clauses and dates without missing critical evidence.</a:t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581025" y="2795587"/>
            <a:ext cx="11029950" cy="914400"/>
          </a:xfrm>
          <a:prstGeom prst="roundRect">
            <a:avLst>
              <a:gd name="adj" fmla="val 10416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1152525" y="2986087"/>
            <a:ext cx="102298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Medical Record Synthesis: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Parsing longitudinal patient histories spanning years to locate obscure past diagnoses or drug reactions.</a:t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581025" y="3862387"/>
            <a:ext cx="11029950" cy="914400"/>
          </a:xfrm>
          <a:prstGeom prst="roundRect">
            <a:avLst>
              <a:gd name="adj" fmla="val 10416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1152525" y="4052887"/>
            <a:ext cx="102298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Codebase Auditing: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Finding isolated vulnerability patterns or configuration settings across massive enterprise software repositories.</a:t>
            </a:r>
            <a:endParaRPr/>
          </a:p>
        </p:txBody>
      </p:sp>
      <p:sp>
        <p:nvSpPr>
          <p:cNvPr id="232" name="Google Shape;232;p22"/>
          <p:cNvSpPr/>
          <p:nvPr/>
        </p:nvSpPr>
        <p:spPr>
          <a:xfrm>
            <a:off x="581025" y="4929187"/>
            <a:ext cx="11029950" cy="914400"/>
          </a:xfrm>
          <a:prstGeom prst="roundRect">
            <a:avLst>
              <a:gd name="adj" fmla="val 10416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1152525" y="5119687"/>
            <a:ext cx="102298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Financial Filings Analysis: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Extracting footnotes, compliance disclaimers, and metric changes buried deep within annual 10-K reports.</a:t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581025" y="2633662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581025" y="3700462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581025" y="4767262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581025" y="5834062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50" y="196215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" y="30289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409575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516255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 txBox="1"/>
          <p:nvPr/>
        </p:nvSpPr>
        <p:spPr>
          <a:xfrm>
            <a:off x="581025" y="48577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Real-World AI Applications</a:t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581025" y="10287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19650" y="2047130"/>
            <a:ext cx="25527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845468" y="2609105"/>
            <a:ext cx="8501062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 Key Drivers of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Prompt Steering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047875" y="4140547"/>
            <a:ext cx="8096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Understanding the cognitive mechanisms that shape Large Language Model outputs for deterministic, high-quality results.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84127"/>
            <a:ext cx="5324475" cy="207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784127"/>
            <a:ext cx="5324475" cy="207064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33450" y="3136552"/>
            <a:ext cx="4850606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What is Prompt Steering?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33450" y="3565177"/>
            <a:ext cx="46196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Prompt steering is the practice of strategically structuring inputs to navigate an LLM's vast probability space toward optimal and targeted completions.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38925" y="3136552"/>
            <a:ext cx="4850606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Why Steering Works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38925" y="3565177"/>
            <a:ext cx="46196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Rather than guessing answers, LLMs generate tokens based on conditional probability. Prompt structure directly modulates these internal statistical pathways.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Prompt Steering Overview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5590133" y="2212776"/>
            <a:ext cx="101158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DRIVER 01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2680889" y="2527101"/>
            <a:ext cx="6830072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Pattern Matching &amp; Priming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2524125" y="3974901"/>
            <a:ext cx="7143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Activating pre-trained sub-networks through structured formatting and familiar syntactic anchors.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581025" y="581025"/>
            <a:ext cx="5540692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Pattern Matching &amp; Priming</a:t>
            </a:r>
            <a:endParaRPr/>
          </a:p>
        </p:txBody>
      </p:sp>
      <p:pic>
        <p:nvPicPr>
          <p:cNvPr id="114" name="Google Shape;11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581025" y="1362075"/>
            <a:ext cx="554069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Activating Neural Pathways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581025" y="1790700"/>
            <a:ext cx="52768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LLMs are trained on vast datasets of structured reasoning, Q&amp;A pairs, code, and dialogue. Providing clear structure in your prompt "primes" the model to trigger sub-networks mirroring those exact patterns.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81025" y="3040260"/>
            <a:ext cx="5276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syntax alignment reduces entropy and significantly improves formatting fidelity and response depth.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/>
        </p:nvSpPr>
        <p:spPr>
          <a:xfrm>
            <a:off x="5575845" y="2212776"/>
            <a:ext cx="104015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DRIVER 02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3034683" y="2527101"/>
            <a:ext cx="6122483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Contextual Constraining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2524125" y="3974901"/>
            <a:ext cx="7143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Pruning statistical output pathways by strictly defining parameters, rules, and boundary limits.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09775"/>
            <a:ext cx="53244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/>
        </p:nvSpPr>
        <p:spPr>
          <a:xfrm>
            <a:off x="847725" y="2438400"/>
            <a:ext cx="50577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Probability Reduction: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Unconstrained prompts leave millions of valid word paths open, increasing hallucination risks.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847725" y="3158430"/>
            <a:ext cx="50577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Narrowing Token Space: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Explicit boundaries (e.g., "Respond in under 50 words using bullet points") drastically lower off-topic token probabilities.</a:t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847725" y="4152751"/>
            <a:ext cx="50577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Deterministic Alignment: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Negative constraints and format guards ensure compliance across high-stakes workflows.</a:t>
            </a:r>
            <a:endParaRPr/>
          </a:p>
        </p:txBody>
      </p:sp>
      <p:pic>
        <p:nvPicPr>
          <p:cNvPr id="136" name="Google Shape;13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2019300"/>
            <a:ext cx="53054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/>
        </p:nvSpPr>
        <p:spPr>
          <a:xfrm>
            <a:off x="657225" y="2400300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657225" y="3120330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657225" y="4114651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Contextual Constraining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/>
        </p:nvSpPr>
        <p:spPr>
          <a:xfrm>
            <a:off x="5571083" y="2212776"/>
            <a:ext cx="104968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DRIVER 03</a:t>
            </a: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2406320" y="2527101"/>
            <a:ext cx="7379359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Chain-of-Thought Activation</a:t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2524125" y="3974901"/>
            <a:ext cx="7143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Forcing intermediate reasoning tokens to elevate final inference accuracy.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41376"/>
            <a:ext cx="3486150" cy="275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441376"/>
            <a:ext cx="3486150" cy="275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441376"/>
            <a:ext cx="3486150" cy="275629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 txBox="1"/>
          <p:nvPr/>
        </p:nvSpPr>
        <p:spPr>
          <a:xfrm>
            <a:off x="895350" y="3412926"/>
            <a:ext cx="3000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1. Step Trigger</a:t>
            </a:r>
            <a:endParaRPr/>
          </a:p>
        </p:txBody>
      </p:sp>
      <p:sp>
        <p:nvSpPr>
          <p:cNvPr id="158" name="Google Shape;158;p20"/>
          <p:cNvSpPr txBox="1"/>
          <p:nvPr/>
        </p:nvSpPr>
        <p:spPr>
          <a:xfrm>
            <a:off x="895350" y="3793926"/>
            <a:ext cx="285750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Instructing a model to "think step-by-step" forces it to generate intermediate reasoning tokens prior to reaching a conclusion.</a:t>
            </a:r>
            <a:endParaRPr/>
          </a:p>
        </p:txBody>
      </p:sp>
      <p:sp>
        <p:nvSpPr>
          <p:cNvPr id="159" name="Google Shape;159;p20"/>
          <p:cNvSpPr txBox="1"/>
          <p:nvPr/>
        </p:nvSpPr>
        <p:spPr>
          <a:xfrm>
            <a:off x="4667250" y="3412926"/>
            <a:ext cx="3000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2. Context Loop</a:t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4667250" y="3793926"/>
            <a:ext cx="285750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Because each new token becomes part of the context for subsequent tokens, logical steps build an increasingly reliable trajectory.</a:t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8439150" y="3412926"/>
            <a:ext cx="3000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3. Precision Output</a:t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8439150" y="3793926"/>
            <a:ext cx="285750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Generating intermediate logic renders accurate final deductions statistically much more probable than direct answers.</a:t>
            </a:r>
            <a:endParaRPr/>
          </a:p>
        </p:txBody>
      </p:sp>
      <p:pic>
        <p:nvPicPr>
          <p:cNvPr id="163" name="Google Shape;163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5350" y="279380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67250" y="2793801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39150" y="279380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Chain-of-Thought Mechanics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2" name="Google Shape;172;p21"/>
          <p:cNvGraphicFramePr/>
          <p:nvPr/>
        </p:nvGraphicFramePr>
        <p:xfrm>
          <a:off x="581025" y="2073622"/>
          <a:ext cx="11010900" cy="34917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0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8BDF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Key Driver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8BDF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Core Mechanism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8BDF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Prompt Strategy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8BDF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Primary Benefit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Pattern Matching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Sub-network activation via syntax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Provide canonical structure &amp; examples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Format adherence &amp; tone precision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Contextual Constraining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Token probability space reduction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Define explicit limits &amp; negative rules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Elimination of unwanted hallucinations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Chain-of-Thought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Iterative intermediate logic state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 "Think step-by-step" cues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Dramatically higher logical accuracy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3" name="Google Shape;173;p21"/>
          <p:cNvSpPr/>
          <p:nvPr/>
        </p:nvSpPr>
        <p:spPr>
          <a:xfrm>
            <a:off x="590550" y="2738437"/>
            <a:ext cx="22010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2791569" y="2738437"/>
            <a:ext cx="276775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5559325" y="2738437"/>
            <a:ext cx="304174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8601075" y="2738437"/>
            <a:ext cx="30003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590550" y="3677542"/>
            <a:ext cx="22010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2791569" y="3677542"/>
            <a:ext cx="276775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5559325" y="3677542"/>
            <a:ext cx="304174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8601075" y="3677542"/>
            <a:ext cx="30003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590550" y="4616648"/>
            <a:ext cx="22010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2791569" y="4616648"/>
            <a:ext cx="276775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5559325" y="4616648"/>
            <a:ext cx="304174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8601075" y="4616648"/>
            <a:ext cx="30003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Drivers Comparison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21651" y="528637"/>
            <a:ext cx="1603623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2049" y="1788395"/>
            <a:ext cx="54768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7"/>
          <p:cNvSpPr txBox="1"/>
          <p:nvPr/>
        </p:nvSpPr>
        <p:spPr>
          <a:xfrm>
            <a:off x="466725" y="466725"/>
            <a:ext cx="112585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Practical Session: Code Generation Lab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6725" y="2264568"/>
            <a:ext cx="5495925" cy="3005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29350" y="2264568"/>
            <a:ext cx="5495925" cy="3005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31176" y="528637"/>
            <a:ext cx="1594098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8"/>
          <p:cNvSpPr txBox="1"/>
          <p:nvPr/>
        </p:nvSpPr>
        <p:spPr>
          <a:xfrm>
            <a:off x="742950" y="2540793"/>
            <a:ext cx="545734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Practical Assessment</a:t>
            </a:r>
            <a:endParaRPr dirty="0"/>
          </a:p>
        </p:txBody>
      </p:sp>
      <p:sp>
        <p:nvSpPr>
          <p:cNvPr id="216" name="Google Shape;216;p18"/>
          <p:cNvSpPr txBox="1"/>
          <p:nvPr/>
        </p:nvSpPr>
        <p:spPr>
          <a:xfrm>
            <a:off x="742950" y="2940843"/>
            <a:ext cx="49434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Participants complete a short hands-on evaluation exercise focusing on prompt precision and AI code verification.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6505575" y="2540793"/>
            <a:ext cx="519064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Group Reflection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6505575" y="2940843"/>
            <a:ext cx="49434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roundtable discussion reviewing challenges, potential hallucinations, and operational takeaways.</a:t>
            </a:r>
            <a:endParaRPr/>
          </a:p>
        </p:txBody>
      </p:sp>
      <p:pic>
        <p:nvPicPr>
          <p:cNvPr id="219" name="Google Shape;21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3898" y="2534527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59931" y="2550318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8"/>
          <p:cNvSpPr txBox="1"/>
          <p:nvPr/>
        </p:nvSpPr>
        <p:spPr>
          <a:xfrm>
            <a:off x="466725" y="466725"/>
            <a:ext cx="112585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Assessment &amp; Morning Reflection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59425" y="2097875"/>
            <a:ext cx="393552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9"/>
          <p:cNvSpPr txBox="1"/>
          <p:nvPr/>
        </p:nvSpPr>
        <p:spPr>
          <a:xfrm>
            <a:off x="2905292" y="2555081"/>
            <a:ext cx="6381266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Afternoon Session Overview</a:t>
            </a:r>
            <a:endParaRPr/>
          </a:p>
        </p:txBody>
      </p:sp>
      <p:sp>
        <p:nvSpPr>
          <p:cNvPr id="249" name="Google Shape;249;p19"/>
          <p:cNvSpPr txBox="1"/>
          <p:nvPr/>
        </p:nvSpPr>
        <p:spPr>
          <a:xfrm>
            <a:off x="2667000" y="3288506"/>
            <a:ext cx="6858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Focusing on AI-Assisted Debugging, Troubleshooting, Code Refactoring, and Modularity Optimization.</a:t>
            </a:r>
            <a:endParaRPr/>
          </a:p>
        </p:txBody>
      </p:sp>
      <p:sp>
        <p:nvSpPr>
          <p:cNvPr id="250" name="Google Shape;250;p19"/>
          <p:cNvSpPr txBox="1"/>
          <p:nvPr/>
        </p:nvSpPr>
        <p:spPr>
          <a:xfrm>
            <a:off x="4595812" y="4469606"/>
            <a:ext cx="300037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Session Timeline: 1:30 PM – 5:00 PM</a:t>
            </a:r>
            <a:endParaRPr/>
          </a:p>
        </p:txBody>
      </p:sp>
      <p:pic>
        <p:nvPicPr>
          <p:cNvPr id="251" name="Google Shape;25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1454" y="2183606"/>
            <a:ext cx="120997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576" y="2424764"/>
            <a:ext cx="3625899" cy="2193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2975" y="2424764"/>
            <a:ext cx="3625899" cy="2193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9375" y="2424764"/>
            <a:ext cx="3625899" cy="2193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76879" y="528637"/>
            <a:ext cx="144839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04701" y="2662889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0"/>
          <p:cNvSpPr txBox="1"/>
          <p:nvPr/>
        </p:nvSpPr>
        <p:spPr>
          <a:xfrm>
            <a:off x="704701" y="3310589"/>
            <a:ext cx="330713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Error Analysis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704701" y="3643964"/>
            <a:ext cx="3149649" cy="621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Decoding cryptic compiler errors, stack traces, and simulation logs using GitHub Copilot explain feature.</a:t>
            </a:r>
            <a:endParaRPr/>
          </a:p>
        </p:txBody>
      </p:sp>
      <p:pic>
        <p:nvPicPr>
          <p:cNvPr id="264" name="Google Shape;264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21100" y="2662889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0"/>
          <p:cNvSpPr txBox="1"/>
          <p:nvPr/>
        </p:nvSpPr>
        <p:spPr>
          <a:xfrm>
            <a:off x="4521100" y="3310589"/>
            <a:ext cx="330713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Debugging Workflows</a:t>
            </a:r>
            <a:endParaRPr/>
          </a:p>
        </p:txBody>
      </p:sp>
      <p:sp>
        <p:nvSpPr>
          <p:cNvPr id="266" name="Google Shape;266;p20"/>
          <p:cNvSpPr txBox="1"/>
          <p:nvPr/>
        </p:nvSpPr>
        <p:spPr>
          <a:xfrm>
            <a:off x="4521100" y="3643964"/>
            <a:ext cx="3149649" cy="621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Establishing systematic troubleshooting steps combining traditional tools with targeted AI queries.</a:t>
            </a:r>
            <a:endParaRPr/>
          </a:p>
        </p:txBody>
      </p:sp>
      <p:pic>
        <p:nvPicPr>
          <p:cNvPr id="267" name="Google Shape;267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37500" y="2662889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0"/>
          <p:cNvSpPr txBox="1"/>
          <p:nvPr/>
        </p:nvSpPr>
        <p:spPr>
          <a:xfrm>
            <a:off x="8337500" y="3310589"/>
            <a:ext cx="330713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Fix Validation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8337500" y="3643964"/>
            <a:ext cx="3149649" cy="621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Strict verification protocols to test and confirm AI-suggested bug fixes without introducing regressions.</a:t>
            </a:r>
            <a:endParaRPr/>
          </a:p>
        </p:txBody>
      </p:sp>
      <p:pic>
        <p:nvPicPr>
          <p:cNvPr id="270" name="Google Shape;270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9001" y="2777189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635400" y="2777189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451800" y="2777189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0"/>
          <p:cNvSpPr txBox="1"/>
          <p:nvPr/>
        </p:nvSpPr>
        <p:spPr>
          <a:xfrm>
            <a:off x="466725" y="466725"/>
            <a:ext cx="112585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 AI-Assisted Debugging Fundamentals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1"/>
          <p:cNvSpPr txBox="1"/>
          <p:nvPr/>
        </p:nvSpPr>
        <p:spPr>
          <a:xfrm>
            <a:off x="466725" y="466725"/>
            <a:ext cx="54387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6. Debugging &amp; Troubleshooting Lab</a:t>
            </a:r>
            <a:endParaRPr/>
          </a:p>
        </p:txBody>
      </p:sp>
      <p:pic>
        <p:nvPicPr>
          <p:cNvPr id="280" name="Google Shape;28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9525"/>
            <a:ext cx="58959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1"/>
          <p:cNvSpPr txBox="1"/>
          <p:nvPr/>
        </p:nvSpPr>
        <p:spPr>
          <a:xfrm>
            <a:off x="466725" y="2155031"/>
            <a:ext cx="543877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2:30 PM – 3:45 PM | Hands-On Activity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466725" y="2445543"/>
            <a:ext cx="54387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Lab Exercises: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Participants debug broken code samples across Python runtime errors</a:t>
            </a:r>
            <a:endParaRPr dirty="0"/>
          </a:p>
        </p:txBody>
      </p:sp>
      <p:sp>
        <p:nvSpPr>
          <p:cNvPr id="283" name="Google Shape;283;p21"/>
          <p:cNvSpPr/>
          <p:nvPr/>
        </p:nvSpPr>
        <p:spPr>
          <a:xfrm>
            <a:off x="466725" y="3340893"/>
            <a:ext cx="5438775" cy="514350"/>
          </a:xfrm>
          <a:prstGeom prst="roundRect">
            <a:avLst>
              <a:gd name="adj" fmla="val 14814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942975" y="3474243"/>
            <a:ext cx="47910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Root Cause Isolation with AI assistance.</a:t>
            </a:r>
            <a:endParaRPr/>
          </a:p>
        </p:txBody>
      </p:sp>
      <p:sp>
        <p:nvSpPr>
          <p:cNvPr id="285" name="Google Shape;285;p21"/>
          <p:cNvSpPr/>
          <p:nvPr/>
        </p:nvSpPr>
        <p:spPr>
          <a:xfrm>
            <a:off x="466725" y="3969543"/>
            <a:ext cx="5438775" cy="514350"/>
          </a:xfrm>
          <a:prstGeom prst="roundRect">
            <a:avLst>
              <a:gd name="adj" fmla="val 14814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990600" y="4102893"/>
            <a:ext cx="47434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Manual vs AI Debugging speed comparison.</a:t>
            </a:r>
            <a:endParaRPr/>
          </a:p>
        </p:txBody>
      </p:sp>
      <p:sp>
        <p:nvSpPr>
          <p:cNvPr id="287" name="Google Shape;287;p21"/>
          <p:cNvSpPr/>
          <p:nvPr/>
        </p:nvSpPr>
        <p:spPr>
          <a:xfrm>
            <a:off x="466725" y="4598193"/>
            <a:ext cx="5438775" cy="514350"/>
          </a:xfrm>
          <a:prstGeom prst="roundRect">
            <a:avLst>
              <a:gd name="adj" fmla="val 14814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942975" y="4731543"/>
            <a:ext cx="47910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Fix correctness, stability, and maintainability checks.</a:t>
            </a:r>
            <a:endParaRPr dirty="0"/>
          </a:p>
        </p:txBody>
      </p:sp>
      <p:sp>
        <p:nvSpPr>
          <p:cNvPr id="289" name="Google Shape;289;p21"/>
          <p:cNvSpPr/>
          <p:nvPr/>
        </p:nvSpPr>
        <p:spPr>
          <a:xfrm>
            <a:off x="466725" y="3845718"/>
            <a:ext cx="54387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466725" y="4474368"/>
            <a:ext cx="54387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466725" y="5103018"/>
            <a:ext cx="54387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700" y="349805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7700" y="4126706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7700" y="4755356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725" y="2551509"/>
            <a:ext cx="2671762" cy="2431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28987" y="2551509"/>
            <a:ext cx="2671762" cy="2431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2551509"/>
            <a:ext cx="2671762" cy="2431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53512" y="2551509"/>
            <a:ext cx="2671762" cy="2431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257829" y="528637"/>
            <a:ext cx="146744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04850" y="2789634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2"/>
          <p:cNvSpPr txBox="1"/>
          <p:nvPr/>
        </p:nvSpPr>
        <p:spPr>
          <a:xfrm>
            <a:off x="704850" y="3437334"/>
            <a:ext cx="230528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Readability &amp; Style</a:t>
            </a:r>
            <a:endParaRPr/>
          </a:p>
        </p:txBody>
      </p:sp>
      <p:sp>
        <p:nvSpPr>
          <p:cNvPr id="307" name="Google Shape;307;p22"/>
          <p:cNvSpPr txBox="1"/>
          <p:nvPr/>
        </p:nvSpPr>
        <p:spPr>
          <a:xfrm>
            <a:off x="704850" y="3770709"/>
            <a:ext cx="2195512" cy="621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Improving code clarity, variable naming, and standard compliance across legacy codebases.</a:t>
            </a:r>
            <a:endParaRPr/>
          </a:p>
        </p:txBody>
      </p:sp>
      <p:pic>
        <p:nvPicPr>
          <p:cNvPr id="308" name="Google Shape;308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567112" y="2789634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2"/>
          <p:cNvSpPr txBox="1"/>
          <p:nvPr/>
        </p:nvSpPr>
        <p:spPr>
          <a:xfrm>
            <a:off x="3567112" y="3437334"/>
            <a:ext cx="230528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Eliminating Duplication</a:t>
            </a:r>
            <a:endParaRPr/>
          </a:p>
        </p:txBody>
      </p:sp>
      <p:sp>
        <p:nvSpPr>
          <p:cNvPr id="310" name="Google Shape;310;p22"/>
          <p:cNvSpPr txBox="1"/>
          <p:nvPr/>
        </p:nvSpPr>
        <p:spPr>
          <a:xfrm>
            <a:off x="3567112" y="3770709"/>
            <a:ext cx="2195512" cy="621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Detecting repetitive logic and refactoring boilerplate into reusable functions and classes.</a:t>
            </a:r>
            <a:endParaRPr/>
          </a:p>
        </p:txBody>
      </p:sp>
      <p:pic>
        <p:nvPicPr>
          <p:cNvPr id="311" name="Google Shape;311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29375" y="2789634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2"/>
          <p:cNvSpPr txBox="1"/>
          <p:nvPr/>
        </p:nvSpPr>
        <p:spPr>
          <a:xfrm>
            <a:off x="6429375" y="3437334"/>
            <a:ext cx="230528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Modularity &amp; Structure</a:t>
            </a:r>
            <a:endParaRPr/>
          </a:p>
        </p:txBody>
      </p:sp>
      <p:sp>
        <p:nvSpPr>
          <p:cNvPr id="313" name="Google Shape;313;p22"/>
          <p:cNvSpPr txBox="1"/>
          <p:nvPr/>
        </p:nvSpPr>
        <p:spPr>
          <a:xfrm>
            <a:off x="6429375" y="3770709"/>
            <a:ext cx="2195512" cy="621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Enhancing software architecture, decoupling dependencies, and improving file organization.</a:t>
            </a:r>
            <a:endParaRPr/>
          </a:p>
        </p:txBody>
      </p:sp>
      <p:pic>
        <p:nvPicPr>
          <p:cNvPr id="314" name="Google Shape;314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291637" y="2789634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2"/>
          <p:cNvSpPr txBox="1"/>
          <p:nvPr/>
        </p:nvSpPr>
        <p:spPr>
          <a:xfrm>
            <a:off x="9291637" y="3437334"/>
            <a:ext cx="2305288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Functionality Preservation</a:t>
            </a:r>
            <a:endParaRPr/>
          </a:p>
        </p:txBody>
      </p:sp>
      <p:sp>
        <p:nvSpPr>
          <p:cNvPr id="316" name="Google Shape;316;p22"/>
          <p:cNvSpPr txBox="1"/>
          <p:nvPr/>
        </p:nvSpPr>
        <p:spPr>
          <a:xfrm>
            <a:off x="9291637" y="4008834"/>
            <a:ext cx="2195512" cy="621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Ensuring original behavior and test coverage remain completely intact post-refactoring.</a:t>
            </a:r>
            <a:endParaRPr/>
          </a:p>
        </p:txBody>
      </p:sp>
      <p:pic>
        <p:nvPicPr>
          <p:cNvPr id="317" name="Google Shape;317;p2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00100" y="2903934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2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48075" y="2903934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2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524625" y="2903934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2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420225" y="2903934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2"/>
          <p:cNvSpPr txBox="1"/>
          <p:nvPr/>
        </p:nvSpPr>
        <p:spPr>
          <a:xfrm>
            <a:off x="466725" y="466725"/>
            <a:ext cx="112585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7. AI-Assisted Refactoring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725" y="2540793"/>
            <a:ext cx="5495925" cy="2452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29350" y="2540793"/>
            <a:ext cx="5495925" cy="2452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38779" y="528637"/>
            <a:ext cx="148649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3"/>
          <p:cNvSpPr txBox="1"/>
          <p:nvPr/>
        </p:nvSpPr>
        <p:spPr>
          <a:xfrm>
            <a:off x="742950" y="2817018"/>
            <a:ext cx="519064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Participant Deliverables</a:t>
            </a:r>
            <a:endParaRPr/>
          </a:p>
        </p:txBody>
      </p:sp>
      <p:sp>
        <p:nvSpPr>
          <p:cNvPr id="331" name="Google Shape;331;p23"/>
          <p:cNvSpPr txBox="1"/>
          <p:nvPr/>
        </p:nvSpPr>
        <p:spPr>
          <a:xfrm>
            <a:off x="742950" y="3217068"/>
            <a:ext cx="49434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Participants submit one completed example of code improved using GitHub Copilot.</a:t>
            </a:r>
            <a:endParaRPr/>
          </a:p>
        </p:txBody>
      </p:sp>
      <p:sp>
        <p:nvSpPr>
          <p:cNvPr id="332" name="Google Shape;332;p23"/>
          <p:cNvSpPr txBox="1"/>
          <p:nvPr/>
        </p:nvSpPr>
        <p:spPr>
          <a:xfrm>
            <a:off x="6505575" y="2817018"/>
            <a:ext cx="519064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Productivity Reflection</a:t>
            </a:r>
            <a:endParaRPr/>
          </a:p>
        </p:txBody>
      </p:sp>
      <p:sp>
        <p:nvSpPr>
          <p:cNvPr id="333" name="Google Shape;333;p23"/>
          <p:cNvSpPr txBox="1"/>
          <p:nvPr/>
        </p:nvSpPr>
        <p:spPr>
          <a:xfrm>
            <a:off x="6505575" y="3217068"/>
            <a:ext cx="49434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Group review evaluating overall efficiency gains and key learnings.</a:t>
            </a:r>
            <a:endParaRPr/>
          </a:p>
        </p:txBody>
      </p:sp>
      <p:pic>
        <p:nvPicPr>
          <p:cNvPr id="334" name="Google Shape;334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5325" y="2845593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3"/>
          <p:cNvSpPr txBox="1"/>
          <p:nvPr/>
        </p:nvSpPr>
        <p:spPr>
          <a:xfrm>
            <a:off x="933450" y="3788568"/>
            <a:ext cx="475297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Before vs After code comparison.</a:t>
            </a:r>
            <a:endParaRPr/>
          </a:p>
        </p:txBody>
      </p:sp>
      <p:sp>
        <p:nvSpPr>
          <p:cNvPr id="336" name="Google Shape;336;p23"/>
          <p:cNvSpPr txBox="1"/>
          <p:nvPr/>
        </p:nvSpPr>
        <p:spPr>
          <a:xfrm>
            <a:off x="933450" y="4098131"/>
            <a:ext cx="475297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Prompts utilized during the refactoring or debugging cycle.</a:t>
            </a:r>
            <a:endParaRPr/>
          </a:p>
        </p:txBody>
      </p:sp>
      <p:sp>
        <p:nvSpPr>
          <p:cNvPr id="337" name="Google Shape;337;p23"/>
          <p:cNvSpPr txBox="1"/>
          <p:nvPr/>
        </p:nvSpPr>
        <p:spPr>
          <a:xfrm>
            <a:off x="933450" y="4407693"/>
            <a:ext cx="475297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Verification tests showing preserved functionality.</a:t>
            </a:r>
            <a:endParaRPr/>
          </a:p>
        </p:txBody>
      </p:sp>
      <p:pic>
        <p:nvPicPr>
          <p:cNvPr id="338" name="Google Shape;338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10325" y="2845593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3"/>
          <p:cNvSpPr txBox="1"/>
          <p:nvPr/>
        </p:nvSpPr>
        <p:spPr>
          <a:xfrm>
            <a:off x="6696075" y="3559968"/>
            <a:ext cx="475297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Evaluating prompt quality impact on resolution time.</a:t>
            </a:r>
            <a:endParaRPr/>
          </a:p>
        </p:txBody>
      </p:sp>
      <p:sp>
        <p:nvSpPr>
          <p:cNvPr id="340" name="Google Shape;340;p23"/>
          <p:cNvSpPr txBox="1"/>
          <p:nvPr/>
        </p:nvSpPr>
        <p:spPr>
          <a:xfrm>
            <a:off x="6696075" y="3869531"/>
            <a:ext cx="475297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Measuring debugging speed improvements with GitHub Copilot.</a:t>
            </a:r>
            <a:endParaRPr/>
          </a:p>
        </p:txBody>
      </p:sp>
      <p:sp>
        <p:nvSpPr>
          <p:cNvPr id="341" name="Google Shape;341;p23"/>
          <p:cNvSpPr txBox="1"/>
          <p:nvPr/>
        </p:nvSpPr>
        <p:spPr>
          <a:xfrm>
            <a:off x="6696075" y="4179093"/>
            <a:ext cx="475297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takeaways for integrating AI into daily engineering tasks.</a:t>
            </a:r>
            <a:endParaRPr/>
          </a:p>
        </p:txBody>
      </p:sp>
      <p:sp>
        <p:nvSpPr>
          <p:cNvPr id="342" name="Google Shape;342;p23"/>
          <p:cNvSpPr txBox="1"/>
          <p:nvPr/>
        </p:nvSpPr>
        <p:spPr>
          <a:xfrm>
            <a:off x="742950" y="3769518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343" name="Google Shape;343;p23"/>
          <p:cNvSpPr txBox="1"/>
          <p:nvPr/>
        </p:nvSpPr>
        <p:spPr>
          <a:xfrm>
            <a:off x="742950" y="4079081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344" name="Google Shape;344;p23"/>
          <p:cNvSpPr txBox="1"/>
          <p:nvPr/>
        </p:nvSpPr>
        <p:spPr>
          <a:xfrm>
            <a:off x="742950" y="4388643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345" name="Google Shape;345;p23"/>
          <p:cNvSpPr txBox="1"/>
          <p:nvPr/>
        </p:nvSpPr>
        <p:spPr>
          <a:xfrm>
            <a:off x="6505575" y="3540918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346" name="Google Shape;346;p23"/>
          <p:cNvSpPr txBox="1"/>
          <p:nvPr/>
        </p:nvSpPr>
        <p:spPr>
          <a:xfrm>
            <a:off x="6505575" y="3850481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347" name="Google Shape;347;p23"/>
          <p:cNvSpPr txBox="1"/>
          <p:nvPr/>
        </p:nvSpPr>
        <p:spPr>
          <a:xfrm>
            <a:off x="6505575" y="4160043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348" name="Google Shape;348;p23"/>
          <p:cNvSpPr txBox="1"/>
          <p:nvPr/>
        </p:nvSpPr>
        <p:spPr>
          <a:xfrm>
            <a:off x="466725" y="466725"/>
            <a:ext cx="112587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8. Reflection &amp; </a:t>
            </a:r>
            <a:r>
              <a:rPr lang="en-US" sz="2550" b="1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Assessment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9300" y="3948100"/>
            <a:ext cx="6819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4"/>
          <p:cNvSpPr txBox="1"/>
          <p:nvPr/>
        </p:nvSpPr>
        <p:spPr>
          <a:xfrm>
            <a:off x="233362" y="2428875"/>
            <a:ext cx="11725275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Day 1 Completed!</a:t>
            </a:r>
            <a:endParaRPr/>
          </a:p>
        </p:txBody>
      </p:sp>
      <p:sp>
        <p:nvSpPr>
          <p:cNvPr id="356" name="Google Shape;356;p24"/>
          <p:cNvSpPr txBox="1"/>
          <p:nvPr/>
        </p:nvSpPr>
        <p:spPr>
          <a:xfrm>
            <a:off x="466725" y="3248025"/>
            <a:ext cx="112585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 for participating in Day 1 of Practical AI Coding and Debugging.</a:t>
            </a:r>
            <a:endParaRPr/>
          </a:p>
        </p:txBody>
      </p:sp>
      <p:pic>
        <p:nvPicPr>
          <p:cNvPr id="357" name="Google Shape;35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62300" y="4114800"/>
            <a:ext cx="1238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4935</Words>
  <Application>Microsoft Office PowerPoint</Application>
  <PresentationFormat>Widescreen</PresentationFormat>
  <Paragraphs>569</Paragraphs>
  <Slides>86</Slides>
  <Notes>86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101" baseType="lpstr">
      <vt:lpstr>Fira Code SemiBold</vt:lpstr>
      <vt:lpstr>Calibri</vt:lpstr>
      <vt:lpstr>Poppins</vt:lpstr>
      <vt:lpstr>JetBrains Mono</vt:lpstr>
      <vt:lpstr>Poppins SemiBold</vt:lpstr>
      <vt:lpstr>Inter SemiBold</vt:lpstr>
      <vt:lpstr>Space Grotesk</vt:lpstr>
      <vt:lpstr>Lato Light</vt:lpstr>
      <vt:lpstr>Inter</vt:lpstr>
      <vt:lpstr>Plus Jakarta Sans SemiBold</vt:lpstr>
      <vt:lpstr>Arial</vt:lpstr>
      <vt:lpstr>Fira Code</vt:lpstr>
      <vt:lpstr>Plus Jakarta Sans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How Yu Ang</cp:lastModifiedBy>
  <cp:revision>4</cp:revision>
  <dcterms:modified xsi:type="dcterms:W3CDTF">2026-09-07T11:00:48Z</dcterms:modified>
</cp:coreProperties>
</file>